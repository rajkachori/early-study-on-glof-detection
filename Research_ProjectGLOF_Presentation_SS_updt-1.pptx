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2" r:id="rId1"/>
  </p:sldMasterIdLst>
  <p:notesMasterIdLst>
    <p:notesMasterId r:id="rId21"/>
  </p:notesMasterIdLst>
  <p:sldIdLst>
    <p:sldId id="292" r:id="rId2"/>
    <p:sldId id="257" r:id="rId3"/>
    <p:sldId id="258" r:id="rId4"/>
    <p:sldId id="259" r:id="rId5"/>
    <p:sldId id="261" r:id="rId6"/>
    <p:sldId id="291" r:id="rId7"/>
    <p:sldId id="288" r:id="rId8"/>
    <p:sldId id="290" r:id="rId9"/>
    <p:sldId id="294" r:id="rId10"/>
    <p:sldId id="278" r:id="rId11"/>
    <p:sldId id="299" r:id="rId12"/>
    <p:sldId id="297" r:id="rId13"/>
    <p:sldId id="298" r:id="rId14"/>
    <p:sldId id="269" r:id="rId15"/>
    <p:sldId id="283" r:id="rId16"/>
    <p:sldId id="270" r:id="rId17"/>
    <p:sldId id="295" r:id="rId18"/>
    <p:sldId id="296" r:id="rId19"/>
    <p:sldId id="272" r:id="rId20"/>
  </p:sldIdLst>
  <p:sldSz cx="18288000" cy="10287000"/>
  <p:notesSz cx="6858000" cy="9144000"/>
  <p:embeddedFontLst>
    <p:embeddedFont>
      <p:font typeface="Amasis MT Pro Black" panose="02040A04050005020304" pitchFamily="18" charset="0"/>
      <p:bold r:id="rId22"/>
      <p:boldItalic r:id="rId23"/>
    </p:embeddedFont>
    <p:embeddedFont>
      <p:font typeface="Aptos Narrow" panose="020B0004020202020204" pitchFamily="34" charset="0"/>
      <p:regular r:id="rId24"/>
      <p:bold r:id="rId25"/>
      <p:italic r:id="rId26"/>
      <p:boldItalic r:id="rId27"/>
    </p:embeddedFont>
    <p:embeddedFont>
      <p:font typeface="Arial Rounded MT Bold" panose="020F0704030504030204" pitchFamily="34" charset="0"/>
      <p:regular r:id="rId28"/>
    </p:embeddedFont>
    <p:embeddedFont>
      <p:font typeface="Bahnschrift" panose="020B0502040204020203" pitchFamily="34" charset="0"/>
      <p:regular r:id="rId29"/>
      <p:bold r:id="rId30"/>
    </p:embeddedFont>
    <p:embeddedFont>
      <p:font typeface="Bodoni MT" panose="02070603080606020203" pitchFamily="18"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B95C"/>
    <a:srgbClr val="FFC6C6"/>
    <a:srgbClr val="9A8C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3447" autoAdjust="0"/>
  </p:normalViewPr>
  <p:slideViewPr>
    <p:cSldViewPr>
      <p:cViewPr varScale="1">
        <p:scale>
          <a:sx n="42" d="100"/>
          <a:sy n="42" d="100"/>
        </p:scale>
        <p:origin x="804"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21" Type="http://schemas.openxmlformats.org/officeDocument/2006/relationships/notesMaster" Target="notesMasters/notesMaster1.xml"/><Relationship Id="rId34"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3T09:20:20.427"/>
    </inkml:context>
    <inkml:brush xml:id="br0">
      <inkml:brushProperty name="width" value="0.35" units="cm"/>
      <inkml:brushProperty name="height" value="0.35" units="cm"/>
      <inkml:brushProperty name="color" value="#FFFFFF"/>
    </inkml:brush>
  </inkml:definitions>
  <inkml:trace contextRef="#ctx0" brushRef="#br0">0 695 24575,'34'-19'0,"1"0"0,0 2 0,61-20 0,-9 5 0,174-83 0,-260 114 0,21-9 0,-17 6 0,-9 3 0,-27 5 0,1 2 0,-41 13 0,-10 2 0,61-17 0,6 0 0,-1 0 0,1-2 0,-1 0 0,0 0 0,1-1 0,-1-1 0,-29-4 0,41 4 0,1 0 0,0-1 0,0 0 0,-1 1 0,1-1 0,0 0 0,0 0 0,0 0 0,0 0 0,0-1 0,0 1 0,0-1 0,0 1 0,1-1 0,-1 1 0,1-1 0,-1 0 0,1 0 0,-2-2 0,2 2 0,1 0 0,-1-1 0,1 1 0,-1 0 0,1 0 0,0-1 0,0 1 0,0 0 0,0-1 0,0 1 0,0 0 0,1-1 0,-1 1 0,1 0 0,1-4 0,2-4 0,1 0 0,0 1 0,1-1 0,0 1 0,1 0 0,12-13 0,-6 9 0,1 0 0,0 1 0,1 1 0,0 1 0,21-12 0,86-34 0,-88 41 0,-29 13 0,0 0 0,0-1 0,-1 0 0,0 0 0,1 0 0,5-7 0,-10 10 0,1-1 0,-1 1 0,1 0 0,-1-1 0,0 1 0,1-1 0,-1 0 0,0 1 0,1-1 0,-1 1 0,0-1 0,0 1 0,1-1 0,-1 0 0,0 1 0,0-1 0,0 0 0,0 1 0,0-1 0,0 0 0,0 1 0,0-1 0,0-1 0,-1 2 0,0-1 0,1 0 0,-1 0 0,0 1 0,0-1 0,0 0 0,0 1 0,0-1 0,0 1 0,0-1 0,0 1 0,0 0 0,0-1 0,0 1 0,0 0 0,0 0 0,0-1 0,0 1 0,-2 0 0,-12 0 0,0 0 0,0 2 0,0-1 0,1 2 0,-22 5 0,-18 3 0,52-11 0,-9 2 0,0 0 0,-1-1 0,-16-1 0,24-1 0,1 1 0,0 0 0,0-1 0,-1 0 0,1 0 0,0 0 0,0 0 0,0-1 0,0 1 0,0-1 0,0 0 0,0 1 0,1-1 0,-1-1 0,1 1 0,-5-4 0,4 1 27,0 0-1,-1 0 0,1 0 0,1 0 1,-1 0-1,1-1 0,0 1 0,0-1 1,1 1-1,0-1 0,0 0 0,-1-7 1,2 2-312,0 1 1,0-1-1,1 0 1,1 1-1,5-20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3T09:20:32.177"/>
    </inkml:context>
    <inkml:brush xml:id="br0">
      <inkml:brushProperty name="width" value="0.35" units="cm"/>
      <inkml:brushProperty name="height" value="0.35" units="cm"/>
      <inkml:brushProperty name="color" value="#FFFFFF"/>
    </inkml:brush>
  </inkml:definitions>
  <inkml:trace contextRef="#ctx0" brushRef="#br0">0 636 24575,'0'-635'0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61B76D-6A86-4434-BD2B-6BB2C2463D46}" type="datetimeFigureOut">
              <a:rPr lang="en-US" smtClean="0"/>
              <a:t>4/11/2026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38885E-6EB4-4B12-A5A6-90D8D293D360}" type="slidenum">
              <a:rPr lang="en-US" smtClean="0"/>
              <a:t>‹#›</a:t>
            </a:fld>
            <a:endParaRPr lang="en-US"/>
          </a:p>
        </p:txBody>
      </p:sp>
    </p:spTree>
    <p:extLst>
      <p:ext uri="{BB962C8B-B14F-4D97-AF65-F5344CB8AC3E}">
        <p14:creationId xmlns:p14="http://schemas.microsoft.com/office/powerpoint/2010/main" val="848941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38885E-6EB4-4B12-A5A6-90D8D293D360}" type="slidenum">
              <a:rPr lang="en-US" smtClean="0"/>
              <a:t>4</a:t>
            </a:fld>
            <a:endParaRPr lang="en-US"/>
          </a:p>
        </p:txBody>
      </p:sp>
    </p:spTree>
    <p:extLst>
      <p:ext uri="{BB962C8B-B14F-4D97-AF65-F5344CB8AC3E}">
        <p14:creationId xmlns:p14="http://schemas.microsoft.com/office/powerpoint/2010/main" val="441019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38885E-6EB4-4B12-A5A6-90D8D293D360}" type="slidenum">
              <a:rPr lang="en-US" smtClean="0"/>
              <a:t>5</a:t>
            </a:fld>
            <a:endParaRPr lang="en-US"/>
          </a:p>
        </p:txBody>
      </p:sp>
    </p:spTree>
    <p:extLst>
      <p:ext uri="{BB962C8B-B14F-4D97-AF65-F5344CB8AC3E}">
        <p14:creationId xmlns:p14="http://schemas.microsoft.com/office/powerpoint/2010/main" val="78373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38885E-6EB4-4B12-A5A6-90D8D293D360}" type="slidenum">
              <a:rPr lang="en-US" smtClean="0"/>
              <a:t>10</a:t>
            </a:fld>
            <a:endParaRPr lang="en-US"/>
          </a:p>
        </p:txBody>
      </p:sp>
    </p:spTree>
    <p:extLst>
      <p:ext uri="{BB962C8B-B14F-4D97-AF65-F5344CB8AC3E}">
        <p14:creationId xmlns:p14="http://schemas.microsoft.com/office/powerpoint/2010/main" val="7398781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1" dirty="0"/>
              <a:t>Pixel-level Overlap Measurement</a:t>
            </a:r>
            <a:endParaRPr lang="en-US" dirty="0"/>
          </a:p>
          <a:p>
            <a:r>
              <a:rPr lang="en-US" b="1" dirty="0"/>
              <a:t>IoU (Intersection over Union)</a:t>
            </a:r>
            <a:r>
              <a:rPr lang="en-US" dirty="0"/>
              <a:t> directly measures the spatial overlap between predicted and ground-truth regions.</a:t>
            </a:r>
          </a:p>
          <a:p>
            <a:r>
              <a:rPr lang="en-US" dirty="0"/>
              <a:t>It penalizes both </a:t>
            </a:r>
            <a:r>
              <a:rPr lang="en-US" b="1" dirty="0"/>
              <a:t>false positives (extra area predicted)</a:t>
            </a:r>
            <a:r>
              <a:rPr lang="en-US" dirty="0"/>
              <a:t> and </a:t>
            </a:r>
            <a:r>
              <a:rPr lang="en-US" b="1" dirty="0"/>
              <a:t>false negatives (missed area)</a:t>
            </a:r>
            <a:r>
              <a:rPr lang="en-US" dirty="0"/>
              <a:t> in one unified score.</a:t>
            </a:r>
          </a:p>
          <a:p>
            <a:r>
              <a:rPr lang="en-US" b="1" dirty="0"/>
              <a:t>Better Representation than Accuracy</a:t>
            </a:r>
            <a:endParaRPr lang="en-US" dirty="0"/>
          </a:p>
          <a:p>
            <a:r>
              <a:rPr lang="en-US" b="1" dirty="0"/>
              <a:t>Accuracy</a:t>
            </a:r>
            <a:r>
              <a:rPr lang="en-US" dirty="0"/>
              <a:t> can be misleading in segmentation tasks with class imbalance (e.g., most pixels are background, few are lake).</a:t>
            </a:r>
          </a:p>
          <a:p>
            <a:r>
              <a:rPr lang="en-US" dirty="0"/>
              <a:t>A model predicting all pixels as background may still achieve very high accuracy, but IoU would be very low → reflecting poor performance.</a:t>
            </a:r>
          </a:p>
          <a:p>
            <a:r>
              <a:rPr lang="en-US" b="1" dirty="0"/>
              <a:t>Improvement over Precision/Recall</a:t>
            </a:r>
            <a:endParaRPr lang="en-US" dirty="0"/>
          </a:p>
          <a:p>
            <a:r>
              <a:rPr lang="en-US" b="1" dirty="0"/>
              <a:t>Precision</a:t>
            </a:r>
            <a:r>
              <a:rPr lang="en-US" dirty="0"/>
              <a:t> only measures how much of the predicted area is correct.</a:t>
            </a:r>
          </a:p>
          <a:p>
            <a:r>
              <a:rPr lang="en-US" b="1" dirty="0"/>
              <a:t>Recall</a:t>
            </a:r>
            <a:r>
              <a:rPr lang="en-US" dirty="0"/>
              <a:t> only measures how much of the true area was captured.</a:t>
            </a:r>
          </a:p>
          <a:p>
            <a:r>
              <a:rPr lang="en-US" b="1" dirty="0"/>
              <a:t>IoU combines both</a:t>
            </a:r>
            <a:r>
              <a:rPr lang="en-US" dirty="0"/>
              <a:t> in a stricter way: a high IoU means both precision and recall are high.</a:t>
            </a:r>
          </a:p>
          <a:p>
            <a:r>
              <a:rPr lang="en-US" b="1" dirty="0"/>
              <a:t>More Discriminative than F1 Score</a:t>
            </a:r>
            <a:endParaRPr lang="en-US" dirty="0"/>
          </a:p>
          <a:p>
            <a:r>
              <a:rPr lang="en-US" b="1" dirty="0"/>
              <a:t>F1-score (Dice coefficient)</a:t>
            </a:r>
            <a:r>
              <a:rPr lang="en-US" dirty="0"/>
              <a:t> is similar to IoU, but it is slightly more lenient.</a:t>
            </a:r>
          </a:p>
          <a:p>
            <a:r>
              <a:rPr lang="en-US" dirty="0"/>
              <a:t>Example: If predicted and ground-truth regions barely overlap, F1 may still give a moderate score, while IoU will drop sharply → making IoU more reliable for fine-grained segmentation like glacial lakes.</a:t>
            </a:r>
          </a:p>
          <a:p>
            <a:r>
              <a:rPr lang="en-US" b="1" dirty="0"/>
              <a:t>Standard Benchmark in Segmentation Research</a:t>
            </a:r>
            <a:endParaRPr lang="en-US" dirty="0"/>
          </a:p>
          <a:p>
            <a:r>
              <a:rPr lang="en-US" dirty="0"/>
              <a:t>IoU has become the </a:t>
            </a:r>
            <a:r>
              <a:rPr lang="en-US" b="1" dirty="0"/>
              <a:t>de facto benchmark</a:t>
            </a:r>
            <a:r>
              <a:rPr lang="en-US" dirty="0"/>
              <a:t> in computer vision and remote sensing segmentation tasks (used in PASCAL VOC, COCO datasets).</a:t>
            </a:r>
          </a:p>
          <a:p>
            <a:r>
              <a:rPr lang="en-US" dirty="0"/>
              <a:t>It ensures comparability across studies and is considered stricter than pixel accuracy or F1.</a:t>
            </a:r>
          </a:p>
          <a:p>
            <a:endParaRPr lang="en-US" dirty="0"/>
          </a:p>
        </p:txBody>
      </p:sp>
      <p:sp>
        <p:nvSpPr>
          <p:cNvPr id="4" name="Slide Number Placeholder 3"/>
          <p:cNvSpPr>
            <a:spLocks noGrp="1"/>
          </p:cNvSpPr>
          <p:nvPr>
            <p:ph type="sldNum" sz="quarter" idx="10"/>
          </p:nvPr>
        </p:nvSpPr>
        <p:spPr/>
        <p:txBody>
          <a:bodyPr/>
          <a:lstStyle/>
          <a:p>
            <a:fld id="{FA38885E-6EB4-4B12-A5A6-90D8D293D360}" type="slidenum">
              <a:rPr lang="en-US" smtClean="0"/>
              <a:t>14</a:t>
            </a:fld>
            <a:endParaRPr lang="en-US"/>
          </a:p>
        </p:txBody>
      </p:sp>
    </p:spTree>
    <p:extLst>
      <p:ext uri="{BB962C8B-B14F-4D97-AF65-F5344CB8AC3E}">
        <p14:creationId xmlns:p14="http://schemas.microsoft.com/office/powerpoint/2010/main" val="1743117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Future research directions </a:t>
            </a:r>
          </a:p>
          <a:p>
            <a:r>
              <a:rPr lang="en-IN" sz="1200" kern="1200" dirty="0">
                <a:solidFill>
                  <a:schemeClr val="tx1"/>
                </a:solidFill>
                <a:effectLst/>
                <a:latin typeface="+mn-lt"/>
                <a:ea typeface="+mn-ea"/>
                <a:cs typeface="+mn-cs"/>
              </a:rPr>
              <a:t>Although the proposed model shows promising results, scaling it in upper northern snowy regions presents challenges due to rugged terrain, limited infrastructure, and restricted data access. High-resolution data demands substantial computational power, and connectivity issues hinder Realtime processing. Future work will focus on optimizing algorithms for low-resource settings to maintain accuracy. In high-stakes GLOF-prone areas, false positives and negatives carry significant risks, potentially leading to unnecessary evacuations or missed warnings. To address this, future efforts will emphasize rigorous testing under varied conditions, alongside multi-sensor data fusion using hydrological, meteorological, and geological data to enhance prediction reliability and reduce erroneous alerts. Future work can also focus on improving deep learning models and semantic segmentation techniques while dedicating efforts to climate change research and developing datasets to help prevent natural and human-caused disasters. Additionally, the future research will aim to optimize these models and loss functions for better segmentation performance in remote sensing applications, potentially integrating with future studies for impactful results.</a:t>
            </a:r>
            <a:endParaRPr lang="en-US" dirty="0"/>
          </a:p>
        </p:txBody>
      </p:sp>
      <p:sp>
        <p:nvSpPr>
          <p:cNvPr id="4" name="Slide Number Placeholder 3"/>
          <p:cNvSpPr>
            <a:spLocks noGrp="1"/>
          </p:cNvSpPr>
          <p:nvPr>
            <p:ph type="sldNum" sz="quarter" idx="10"/>
          </p:nvPr>
        </p:nvSpPr>
        <p:spPr/>
        <p:txBody>
          <a:bodyPr/>
          <a:lstStyle/>
          <a:p>
            <a:fld id="{FA38885E-6EB4-4B12-A5A6-90D8D293D360}" type="slidenum">
              <a:rPr lang="en-US" smtClean="0"/>
              <a:t>15</a:t>
            </a:fld>
            <a:endParaRPr lang="en-US"/>
          </a:p>
        </p:txBody>
      </p:sp>
    </p:spTree>
    <p:extLst>
      <p:ext uri="{BB962C8B-B14F-4D97-AF65-F5344CB8AC3E}">
        <p14:creationId xmlns:p14="http://schemas.microsoft.com/office/powerpoint/2010/main" val="2822360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38885E-6EB4-4B12-A5A6-90D8D293D360}" type="slidenum">
              <a:rPr lang="en-US" smtClean="0"/>
              <a:t>16</a:t>
            </a:fld>
            <a:endParaRPr lang="en-US"/>
          </a:p>
        </p:txBody>
      </p:sp>
    </p:spTree>
    <p:extLst>
      <p:ext uri="{BB962C8B-B14F-4D97-AF65-F5344CB8AC3E}">
        <p14:creationId xmlns:p14="http://schemas.microsoft.com/office/powerpoint/2010/main" val="102207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A38885E-6EB4-4B12-A5A6-90D8D293D360}" type="slidenum">
              <a:rPr lang="en-US" smtClean="0"/>
              <a:t>19</a:t>
            </a:fld>
            <a:endParaRPr lang="en-US"/>
          </a:p>
        </p:txBody>
      </p:sp>
    </p:spTree>
    <p:extLst>
      <p:ext uri="{BB962C8B-B14F-4D97-AF65-F5344CB8AC3E}">
        <p14:creationId xmlns:p14="http://schemas.microsoft.com/office/powerpoint/2010/main" val="1925238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pPr defTabSz="1371600"/>
            <a:fld id="{F40D8E05-99C7-456E-9B6F-02C4DA33F3A7}" type="datetime1">
              <a:rPr lang="en-US" smtClean="0">
                <a:solidFill>
                  <a:prstClr val="black">
                    <a:tint val="75000"/>
                  </a:prstClr>
                </a:solidFill>
              </a:rPr>
              <a:t>4/11/2026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1371600"/>
            <a:r>
              <a:rPr lang="en-US" dirty="0">
                <a:solidFill>
                  <a:prstClr val="black">
                    <a:tint val="75000"/>
                  </a:prstClr>
                </a:solidFill>
              </a:rPr>
              <a:t>Made By : SHIKHAR SINGH cseai kiet</a:t>
            </a:r>
          </a:p>
        </p:txBody>
      </p:sp>
      <p:sp>
        <p:nvSpPr>
          <p:cNvPr id="6" name="Slide Number Placeholder 5"/>
          <p:cNvSpPr>
            <a:spLocks noGrp="1"/>
          </p:cNvSpPr>
          <p:nvPr>
            <p:ph type="sldNum" sz="quarter" idx="12"/>
          </p:nvPr>
        </p:nvSpPr>
        <p:spPr/>
        <p:txBody>
          <a:bodyPr/>
          <a:lstStyle/>
          <a:p>
            <a:pPr defTabSz="1371600"/>
            <a:fld id="{69E9C7FB-088C-48B3-AB3D-FB0C55A45E7C}" type="slidenum">
              <a:rPr lang="en-US" smtClean="0">
                <a:solidFill>
                  <a:prstClr val="black">
                    <a:tint val="75000"/>
                  </a:prstClr>
                </a:solidFill>
              </a:rPr>
              <a:pPr defTabSz="1371600"/>
              <a:t>‹#›</a:t>
            </a:fld>
            <a:endParaRPr lang="en-US">
              <a:solidFill>
                <a:prstClr val="black">
                  <a:tint val="75000"/>
                </a:prstClr>
              </a:solidFill>
            </a:endParaRPr>
          </a:p>
        </p:txBody>
      </p:sp>
    </p:spTree>
    <p:extLst>
      <p:ext uri="{BB962C8B-B14F-4D97-AF65-F5344CB8AC3E}">
        <p14:creationId xmlns:p14="http://schemas.microsoft.com/office/powerpoint/2010/main" val="467153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1371600"/>
            <a:fld id="{138B4259-2AF6-40D8-A823-D6E08BCA485D}" type="datetime1">
              <a:rPr lang="en-US" smtClean="0">
                <a:solidFill>
                  <a:prstClr val="black">
                    <a:tint val="75000"/>
                  </a:prstClr>
                </a:solidFill>
              </a:rPr>
              <a:t>4/11/2026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1371600"/>
            <a:r>
              <a:rPr lang="en-US" dirty="0">
                <a:solidFill>
                  <a:prstClr val="black">
                    <a:tint val="75000"/>
                  </a:prstClr>
                </a:solidFill>
              </a:rPr>
              <a:t>Made By : SHIKHAR SINGH cseai kiet</a:t>
            </a:r>
          </a:p>
        </p:txBody>
      </p:sp>
      <p:sp>
        <p:nvSpPr>
          <p:cNvPr id="6" name="Slide Number Placeholder 5"/>
          <p:cNvSpPr>
            <a:spLocks noGrp="1"/>
          </p:cNvSpPr>
          <p:nvPr>
            <p:ph type="sldNum" sz="quarter" idx="12"/>
          </p:nvPr>
        </p:nvSpPr>
        <p:spPr/>
        <p:txBody>
          <a:bodyPr/>
          <a:lstStyle/>
          <a:p>
            <a:pPr defTabSz="1371600"/>
            <a:fld id="{69E9C7FB-088C-48B3-AB3D-FB0C55A45E7C}" type="slidenum">
              <a:rPr lang="en-US" smtClean="0">
                <a:solidFill>
                  <a:prstClr val="black">
                    <a:tint val="75000"/>
                  </a:prstClr>
                </a:solidFill>
              </a:rPr>
              <a:pPr defTabSz="1371600"/>
              <a:t>‹#›</a:t>
            </a:fld>
            <a:endParaRPr lang="en-US">
              <a:solidFill>
                <a:prstClr val="black">
                  <a:tint val="75000"/>
                </a:prstClr>
              </a:solidFill>
            </a:endParaRPr>
          </a:p>
        </p:txBody>
      </p:sp>
    </p:spTree>
    <p:extLst>
      <p:ext uri="{BB962C8B-B14F-4D97-AF65-F5344CB8AC3E}">
        <p14:creationId xmlns:p14="http://schemas.microsoft.com/office/powerpoint/2010/main" val="4159314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defTabSz="1371600"/>
            <a:fld id="{34B6071C-31A4-438C-ACCF-8F855A8E8BFB}" type="datetime1">
              <a:rPr lang="en-US" smtClean="0">
                <a:solidFill>
                  <a:prstClr val="black">
                    <a:tint val="75000"/>
                  </a:prstClr>
                </a:solidFill>
              </a:rPr>
              <a:t>4/11/2026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1371600"/>
            <a:r>
              <a:rPr lang="en-US" dirty="0">
                <a:solidFill>
                  <a:prstClr val="black">
                    <a:tint val="75000"/>
                  </a:prstClr>
                </a:solidFill>
              </a:rPr>
              <a:t>Made By : SHIKHAR SINGH cseai kiet</a:t>
            </a:r>
          </a:p>
        </p:txBody>
      </p:sp>
      <p:sp>
        <p:nvSpPr>
          <p:cNvPr id="6" name="Slide Number Placeholder 5"/>
          <p:cNvSpPr>
            <a:spLocks noGrp="1"/>
          </p:cNvSpPr>
          <p:nvPr>
            <p:ph type="sldNum" sz="quarter" idx="12"/>
          </p:nvPr>
        </p:nvSpPr>
        <p:spPr/>
        <p:txBody>
          <a:bodyPr/>
          <a:lstStyle/>
          <a:p>
            <a:pPr defTabSz="1371600"/>
            <a:fld id="{69E9C7FB-088C-48B3-AB3D-FB0C55A45E7C}" type="slidenum">
              <a:rPr lang="en-US" smtClean="0">
                <a:solidFill>
                  <a:prstClr val="black">
                    <a:tint val="75000"/>
                  </a:prstClr>
                </a:solidFill>
              </a:rPr>
              <a:pPr defTabSz="1371600"/>
              <a:t>‹#›</a:t>
            </a:fld>
            <a:endParaRPr lang="en-US">
              <a:solidFill>
                <a:prstClr val="black">
                  <a:tint val="75000"/>
                </a:prstClr>
              </a:solidFill>
            </a:endParaRPr>
          </a:p>
        </p:txBody>
      </p:sp>
    </p:spTree>
    <p:extLst>
      <p:ext uri="{BB962C8B-B14F-4D97-AF65-F5344CB8AC3E}">
        <p14:creationId xmlns:p14="http://schemas.microsoft.com/office/powerpoint/2010/main" val="3362727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1371600"/>
            <a:fld id="{66D2BE99-452F-454E-B5AA-4CF86FF0CEC8}" type="datetime1">
              <a:rPr lang="en-US" smtClean="0">
                <a:solidFill>
                  <a:prstClr val="black">
                    <a:tint val="75000"/>
                  </a:prstClr>
                </a:solidFill>
              </a:rPr>
              <a:t>4/11/2026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1371600"/>
            <a:r>
              <a:rPr lang="en-US" dirty="0">
                <a:solidFill>
                  <a:prstClr val="black">
                    <a:tint val="75000"/>
                  </a:prstClr>
                </a:solidFill>
              </a:rPr>
              <a:t>Made By : SHIKHAR SINGH cseai kiet</a:t>
            </a:r>
          </a:p>
        </p:txBody>
      </p:sp>
      <p:sp>
        <p:nvSpPr>
          <p:cNvPr id="7" name="Slide Number Placeholder 6"/>
          <p:cNvSpPr>
            <a:spLocks noGrp="1"/>
          </p:cNvSpPr>
          <p:nvPr>
            <p:ph type="sldNum" sz="quarter" idx="12"/>
          </p:nvPr>
        </p:nvSpPr>
        <p:spPr/>
        <p:txBody>
          <a:bodyPr/>
          <a:lstStyle/>
          <a:p>
            <a:pPr defTabSz="1371600"/>
            <a:fld id="{69E9C7FB-088C-48B3-AB3D-FB0C55A45E7C}" type="slidenum">
              <a:rPr lang="en-US" smtClean="0">
                <a:solidFill>
                  <a:prstClr val="black">
                    <a:tint val="75000"/>
                  </a:prstClr>
                </a:solidFill>
              </a:rPr>
              <a:pPr defTabSz="1371600"/>
              <a:t>‹#›</a:t>
            </a:fld>
            <a:endParaRPr lang="en-US">
              <a:solidFill>
                <a:prstClr val="black">
                  <a:tint val="75000"/>
                </a:prstClr>
              </a:solidFill>
            </a:endParaRPr>
          </a:p>
        </p:txBody>
      </p:sp>
    </p:spTree>
    <p:extLst>
      <p:ext uri="{BB962C8B-B14F-4D97-AF65-F5344CB8AC3E}">
        <p14:creationId xmlns:p14="http://schemas.microsoft.com/office/powerpoint/2010/main" val="461694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1371600"/>
            <a:fld id="{E4825E5B-663E-40BD-8BE7-2EA8A05577CF}" type="datetime1">
              <a:rPr lang="en-US" smtClean="0">
                <a:solidFill>
                  <a:prstClr val="black">
                    <a:tint val="75000"/>
                  </a:prstClr>
                </a:solidFill>
              </a:rPr>
              <a:t>4/11/2026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1371600"/>
            <a:r>
              <a:rPr lang="en-US" dirty="0">
                <a:solidFill>
                  <a:prstClr val="black">
                    <a:tint val="75000"/>
                  </a:prstClr>
                </a:solidFill>
              </a:rPr>
              <a:t>Made By : SHIKHAR SINGH cseai kiet</a:t>
            </a:r>
          </a:p>
        </p:txBody>
      </p:sp>
      <p:sp>
        <p:nvSpPr>
          <p:cNvPr id="9" name="Slide Number Placeholder 8"/>
          <p:cNvSpPr>
            <a:spLocks noGrp="1"/>
          </p:cNvSpPr>
          <p:nvPr>
            <p:ph type="sldNum" sz="quarter" idx="12"/>
          </p:nvPr>
        </p:nvSpPr>
        <p:spPr/>
        <p:txBody>
          <a:bodyPr/>
          <a:lstStyle/>
          <a:p>
            <a:pPr defTabSz="1371600"/>
            <a:fld id="{69E9C7FB-088C-48B3-AB3D-FB0C55A45E7C}" type="slidenum">
              <a:rPr lang="en-US" smtClean="0">
                <a:solidFill>
                  <a:prstClr val="black">
                    <a:tint val="75000"/>
                  </a:prstClr>
                </a:solidFill>
              </a:rPr>
              <a:pPr defTabSz="1371600"/>
              <a:t>‹#›</a:t>
            </a:fld>
            <a:endParaRPr lang="en-US">
              <a:solidFill>
                <a:prstClr val="black">
                  <a:tint val="75000"/>
                </a:prstClr>
              </a:solidFill>
            </a:endParaRPr>
          </a:p>
        </p:txBody>
      </p:sp>
    </p:spTree>
    <p:extLst>
      <p:ext uri="{BB962C8B-B14F-4D97-AF65-F5344CB8AC3E}">
        <p14:creationId xmlns:p14="http://schemas.microsoft.com/office/powerpoint/2010/main" val="2123529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defTabSz="1371600"/>
            <a:fld id="{967A316D-F52C-443E-B7B7-B831B24C20C9}" type="datetime1">
              <a:rPr lang="en-US" smtClean="0">
                <a:solidFill>
                  <a:prstClr val="black">
                    <a:tint val="75000"/>
                  </a:prstClr>
                </a:solidFill>
              </a:rPr>
              <a:t>4/11/2026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1371600"/>
            <a:r>
              <a:rPr lang="en-US" dirty="0">
                <a:solidFill>
                  <a:prstClr val="black">
                    <a:tint val="75000"/>
                  </a:prstClr>
                </a:solidFill>
              </a:rPr>
              <a:t>Made By : SHIKHAR SINGH cseai kiet</a:t>
            </a:r>
          </a:p>
        </p:txBody>
      </p:sp>
      <p:sp>
        <p:nvSpPr>
          <p:cNvPr id="5" name="Slide Number Placeholder 4"/>
          <p:cNvSpPr>
            <a:spLocks noGrp="1"/>
          </p:cNvSpPr>
          <p:nvPr>
            <p:ph type="sldNum" sz="quarter" idx="12"/>
          </p:nvPr>
        </p:nvSpPr>
        <p:spPr/>
        <p:txBody>
          <a:bodyPr/>
          <a:lstStyle/>
          <a:p>
            <a:pPr defTabSz="1371600"/>
            <a:fld id="{69E9C7FB-088C-48B3-AB3D-FB0C55A45E7C}" type="slidenum">
              <a:rPr lang="en-US" smtClean="0">
                <a:solidFill>
                  <a:prstClr val="black">
                    <a:tint val="75000"/>
                  </a:prstClr>
                </a:solidFill>
              </a:rPr>
              <a:pPr defTabSz="1371600"/>
              <a:t>‹#›</a:t>
            </a:fld>
            <a:endParaRPr lang="en-US">
              <a:solidFill>
                <a:prstClr val="black">
                  <a:tint val="75000"/>
                </a:prstClr>
              </a:solidFill>
            </a:endParaRPr>
          </a:p>
        </p:txBody>
      </p:sp>
    </p:spTree>
    <p:extLst>
      <p:ext uri="{BB962C8B-B14F-4D97-AF65-F5344CB8AC3E}">
        <p14:creationId xmlns:p14="http://schemas.microsoft.com/office/powerpoint/2010/main" val="477120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1371600"/>
            <a:fld id="{AC9C3EA5-7C79-4E22-957C-9A2EC5DC4230}" type="datetime1">
              <a:rPr lang="en-US" smtClean="0">
                <a:solidFill>
                  <a:prstClr val="black">
                    <a:tint val="75000"/>
                  </a:prstClr>
                </a:solidFill>
              </a:rPr>
              <a:t>4/11/2026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1371600"/>
            <a:r>
              <a:rPr lang="en-US" dirty="0">
                <a:solidFill>
                  <a:prstClr val="black">
                    <a:tint val="75000"/>
                  </a:prstClr>
                </a:solidFill>
              </a:rPr>
              <a:t>Made By : SHIKHAR SINGH cseai kiet</a:t>
            </a:r>
          </a:p>
        </p:txBody>
      </p:sp>
      <p:sp>
        <p:nvSpPr>
          <p:cNvPr id="4" name="Slide Number Placeholder 3"/>
          <p:cNvSpPr>
            <a:spLocks noGrp="1"/>
          </p:cNvSpPr>
          <p:nvPr>
            <p:ph type="sldNum" sz="quarter" idx="12"/>
          </p:nvPr>
        </p:nvSpPr>
        <p:spPr/>
        <p:txBody>
          <a:bodyPr/>
          <a:lstStyle/>
          <a:p>
            <a:pPr defTabSz="1371600"/>
            <a:fld id="{69E9C7FB-088C-48B3-AB3D-FB0C55A45E7C}" type="slidenum">
              <a:rPr lang="en-US" smtClean="0">
                <a:solidFill>
                  <a:prstClr val="black">
                    <a:tint val="75000"/>
                  </a:prstClr>
                </a:solidFill>
              </a:rPr>
              <a:pPr defTabSz="1371600"/>
              <a:t>‹#›</a:t>
            </a:fld>
            <a:endParaRPr lang="en-US">
              <a:solidFill>
                <a:prstClr val="black">
                  <a:tint val="75000"/>
                </a:prstClr>
              </a:solidFill>
            </a:endParaRPr>
          </a:p>
        </p:txBody>
      </p:sp>
    </p:spTree>
    <p:extLst>
      <p:ext uri="{BB962C8B-B14F-4D97-AF65-F5344CB8AC3E}">
        <p14:creationId xmlns:p14="http://schemas.microsoft.com/office/powerpoint/2010/main" val="4235353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Edit Master text styles</a:t>
            </a:r>
          </a:p>
        </p:txBody>
      </p:sp>
      <p:sp>
        <p:nvSpPr>
          <p:cNvPr id="5" name="Date Placeholder 4"/>
          <p:cNvSpPr>
            <a:spLocks noGrp="1"/>
          </p:cNvSpPr>
          <p:nvPr>
            <p:ph type="dt" sz="half" idx="10"/>
          </p:nvPr>
        </p:nvSpPr>
        <p:spPr/>
        <p:txBody>
          <a:bodyPr/>
          <a:lstStyle/>
          <a:p>
            <a:pPr defTabSz="1371600"/>
            <a:fld id="{84F74E83-BCEF-434F-BFE8-21B1B5E5A39D}" type="datetime1">
              <a:rPr lang="en-US" smtClean="0">
                <a:solidFill>
                  <a:prstClr val="black">
                    <a:tint val="75000"/>
                  </a:prstClr>
                </a:solidFill>
              </a:rPr>
              <a:t>4/11/2026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1371600"/>
            <a:r>
              <a:rPr lang="en-US" dirty="0">
                <a:solidFill>
                  <a:prstClr val="black">
                    <a:tint val="75000"/>
                  </a:prstClr>
                </a:solidFill>
              </a:rPr>
              <a:t>Made By : SHIKHAR SINGH cseai kiet</a:t>
            </a:r>
          </a:p>
        </p:txBody>
      </p:sp>
      <p:sp>
        <p:nvSpPr>
          <p:cNvPr id="7" name="Slide Number Placeholder 6"/>
          <p:cNvSpPr>
            <a:spLocks noGrp="1"/>
          </p:cNvSpPr>
          <p:nvPr>
            <p:ph type="sldNum" sz="quarter" idx="12"/>
          </p:nvPr>
        </p:nvSpPr>
        <p:spPr/>
        <p:txBody>
          <a:bodyPr/>
          <a:lstStyle/>
          <a:p>
            <a:pPr defTabSz="1371600"/>
            <a:fld id="{69E9C7FB-088C-48B3-AB3D-FB0C55A45E7C}" type="slidenum">
              <a:rPr lang="en-US" smtClean="0">
                <a:solidFill>
                  <a:prstClr val="black">
                    <a:tint val="75000"/>
                  </a:prstClr>
                </a:solidFill>
              </a:rPr>
              <a:pPr defTabSz="1371600"/>
              <a:t>‹#›</a:t>
            </a:fld>
            <a:endParaRPr lang="en-US">
              <a:solidFill>
                <a:prstClr val="black">
                  <a:tint val="75000"/>
                </a:prstClr>
              </a:solidFill>
            </a:endParaRPr>
          </a:p>
        </p:txBody>
      </p:sp>
    </p:spTree>
    <p:extLst>
      <p:ext uri="{BB962C8B-B14F-4D97-AF65-F5344CB8AC3E}">
        <p14:creationId xmlns:p14="http://schemas.microsoft.com/office/powerpoint/2010/main" val="1578955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US"/>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Edit Master text styles</a:t>
            </a:r>
          </a:p>
        </p:txBody>
      </p:sp>
      <p:sp>
        <p:nvSpPr>
          <p:cNvPr id="5" name="Date Placeholder 4"/>
          <p:cNvSpPr>
            <a:spLocks noGrp="1"/>
          </p:cNvSpPr>
          <p:nvPr>
            <p:ph type="dt" sz="half" idx="10"/>
          </p:nvPr>
        </p:nvSpPr>
        <p:spPr/>
        <p:txBody>
          <a:bodyPr/>
          <a:lstStyle/>
          <a:p>
            <a:pPr defTabSz="1371600"/>
            <a:fld id="{4C1E7BB7-D063-45FA-9F2B-8F342F8D2397}" type="datetime1">
              <a:rPr lang="en-US" smtClean="0">
                <a:solidFill>
                  <a:prstClr val="black">
                    <a:tint val="75000"/>
                  </a:prstClr>
                </a:solidFill>
              </a:rPr>
              <a:t>4/11/2026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1371600"/>
            <a:r>
              <a:rPr lang="en-US" dirty="0">
                <a:solidFill>
                  <a:prstClr val="black">
                    <a:tint val="75000"/>
                  </a:prstClr>
                </a:solidFill>
              </a:rPr>
              <a:t>Made By : SHIKHAR SINGH cseai kiet</a:t>
            </a:r>
          </a:p>
        </p:txBody>
      </p:sp>
      <p:sp>
        <p:nvSpPr>
          <p:cNvPr id="7" name="Slide Number Placeholder 6"/>
          <p:cNvSpPr>
            <a:spLocks noGrp="1"/>
          </p:cNvSpPr>
          <p:nvPr>
            <p:ph type="sldNum" sz="quarter" idx="12"/>
          </p:nvPr>
        </p:nvSpPr>
        <p:spPr/>
        <p:txBody>
          <a:bodyPr/>
          <a:lstStyle/>
          <a:p>
            <a:pPr defTabSz="1371600"/>
            <a:fld id="{69E9C7FB-088C-48B3-AB3D-FB0C55A45E7C}" type="slidenum">
              <a:rPr lang="en-US" smtClean="0">
                <a:solidFill>
                  <a:prstClr val="black">
                    <a:tint val="75000"/>
                  </a:prstClr>
                </a:solidFill>
              </a:rPr>
              <a:pPr defTabSz="1371600"/>
              <a:t>‹#›</a:t>
            </a:fld>
            <a:endParaRPr lang="en-US">
              <a:solidFill>
                <a:prstClr val="black">
                  <a:tint val="75000"/>
                </a:prstClr>
              </a:solidFill>
            </a:endParaRPr>
          </a:p>
        </p:txBody>
      </p:sp>
    </p:spTree>
    <p:extLst>
      <p:ext uri="{BB962C8B-B14F-4D97-AF65-F5344CB8AC3E}">
        <p14:creationId xmlns:p14="http://schemas.microsoft.com/office/powerpoint/2010/main" val="216210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1371600"/>
            <a:fld id="{F4E6FD2B-5CB7-459B-9C07-C4F9FF7EABF0}" type="datetime1">
              <a:rPr lang="en-US" smtClean="0">
                <a:solidFill>
                  <a:prstClr val="black">
                    <a:tint val="75000"/>
                  </a:prstClr>
                </a:solidFill>
              </a:rPr>
              <a:t>4/11/2026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1371600"/>
            <a:r>
              <a:rPr lang="en-US" dirty="0">
                <a:solidFill>
                  <a:prstClr val="black">
                    <a:tint val="75000"/>
                  </a:prstClr>
                </a:solidFill>
              </a:rPr>
              <a:t>Made By : SHIKHAR SINGH cseai kiet</a:t>
            </a:r>
          </a:p>
        </p:txBody>
      </p:sp>
      <p:sp>
        <p:nvSpPr>
          <p:cNvPr id="6" name="Slide Number Placeholder 5"/>
          <p:cNvSpPr>
            <a:spLocks noGrp="1"/>
          </p:cNvSpPr>
          <p:nvPr>
            <p:ph type="sldNum" sz="quarter" idx="12"/>
          </p:nvPr>
        </p:nvSpPr>
        <p:spPr/>
        <p:txBody>
          <a:bodyPr/>
          <a:lstStyle/>
          <a:p>
            <a:pPr defTabSz="1371600"/>
            <a:fld id="{69E9C7FB-088C-48B3-AB3D-FB0C55A45E7C}" type="slidenum">
              <a:rPr lang="en-US" smtClean="0">
                <a:solidFill>
                  <a:prstClr val="black">
                    <a:tint val="75000"/>
                  </a:prstClr>
                </a:solidFill>
              </a:rPr>
              <a:pPr defTabSz="1371600"/>
              <a:t>‹#›</a:t>
            </a:fld>
            <a:endParaRPr lang="en-US">
              <a:solidFill>
                <a:prstClr val="black">
                  <a:tint val="75000"/>
                </a:prstClr>
              </a:solidFill>
            </a:endParaRPr>
          </a:p>
        </p:txBody>
      </p:sp>
    </p:spTree>
    <p:extLst>
      <p:ext uri="{BB962C8B-B14F-4D97-AF65-F5344CB8AC3E}">
        <p14:creationId xmlns:p14="http://schemas.microsoft.com/office/powerpoint/2010/main" val="1574571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1371600"/>
            <a:fld id="{AEEBF7B1-0E54-4367-9275-BDAD1463704A}" type="datetime1">
              <a:rPr lang="en-US" smtClean="0">
                <a:solidFill>
                  <a:prstClr val="black">
                    <a:tint val="75000"/>
                  </a:prstClr>
                </a:solidFill>
              </a:rPr>
              <a:t>4/11/2026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1371600"/>
            <a:r>
              <a:rPr lang="en-US" dirty="0">
                <a:solidFill>
                  <a:prstClr val="black">
                    <a:tint val="75000"/>
                  </a:prstClr>
                </a:solidFill>
              </a:rPr>
              <a:t>Made By : SHIKHAR SINGH cseai kiet</a:t>
            </a:r>
          </a:p>
        </p:txBody>
      </p:sp>
      <p:sp>
        <p:nvSpPr>
          <p:cNvPr id="6" name="Slide Number Placeholder 5"/>
          <p:cNvSpPr>
            <a:spLocks noGrp="1"/>
          </p:cNvSpPr>
          <p:nvPr>
            <p:ph type="sldNum" sz="quarter" idx="12"/>
          </p:nvPr>
        </p:nvSpPr>
        <p:spPr/>
        <p:txBody>
          <a:bodyPr/>
          <a:lstStyle/>
          <a:p>
            <a:pPr defTabSz="1371600"/>
            <a:fld id="{69E9C7FB-088C-48B3-AB3D-FB0C55A45E7C}" type="slidenum">
              <a:rPr lang="en-US" smtClean="0">
                <a:solidFill>
                  <a:prstClr val="black">
                    <a:tint val="75000"/>
                  </a:prstClr>
                </a:solidFill>
              </a:rPr>
              <a:pPr defTabSz="1371600"/>
              <a:t>‹#›</a:t>
            </a:fld>
            <a:endParaRPr lang="en-US">
              <a:solidFill>
                <a:prstClr val="black">
                  <a:tint val="75000"/>
                </a:prstClr>
              </a:solidFill>
            </a:endParaRPr>
          </a:p>
        </p:txBody>
      </p:sp>
    </p:spTree>
    <p:extLst>
      <p:ext uri="{BB962C8B-B14F-4D97-AF65-F5344CB8AC3E}">
        <p14:creationId xmlns:p14="http://schemas.microsoft.com/office/powerpoint/2010/main" val="3564298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pPr defTabSz="1371600"/>
            <a:fld id="{2B9CE6A5-BF8F-4244-B376-781FC394D859}" type="datetime1">
              <a:rPr lang="en-US" smtClean="0">
                <a:solidFill>
                  <a:prstClr val="black">
                    <a:tint val="75000"/>
                  </a:prstClr>
                </a:solidFill>
              </a:rPr>
              <a:t>4/11/2026</a:t>
            </a:fld>
            <a:endParaRPr lang="en-US">
              <a:solidFill>
                <a:prstClr val="black">
                  <a:tint val="75000"/>
                </a:prstClr>
              </a:solidFill>
            </a:endParaRP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pPr defTabSz="1371600"/>
            <a:r>
              <a:rPr lang="en-US" dirty="0">
                <a:solidFill>
                  <a:prstClr val="black">
                    <a:tint val="75000"/>
                  </a:prstClr>
                </a:solidFill>
              </a:rPr>
              <a:t>Made By : SHIKHAR SINGH cseai kiet</a:t>
            </a: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pPr defTabSz="1371600"/>
            <a:fld id="{69E9C7FB-088C-48B3-AB3D-FB0C55A45E7C}" type="slidenum">
              <a:rPr lang="en-US" smtClean="0">
                <a:solidFill>
                  <a:prstClr val="black">
                    <a:tint val="75000"/>
                  </a:prstClr>
                </a:solidFill>
              </a:rPr>
              <a:pPr defTabSz="1371600"/>
              <a:t>‹#›</a:t>
            </a:fld>
            <a:endParaRPr lang="en-US">
              <a:solidFill>
                <a:prstClr val="black">
                  <a:tint val="75000"/>
                </a:prstClr>
              </a:solidFill>
            </a:endParaRPr>
          </a:p>
        </p:txBody>
      </p:sp>
    </p:spTree>
    <p:extLst>
      <p:ext uri="{BB962C8B-B14F-4D97-AF65-F5344CB8AC3E}">
        <p14:creationId xmlns:p14="http://schemas.microsoft.com/office/powerpoint/2010/main" val="125388822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2.xml"/><Relationship Id="rId7"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hemeOverride" Target="../theme/themeOverride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customXml" Target="../ink/ink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hemeOverride" Target="../theme/themeOverride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hemeOverride" Target="../theme/themeOverride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hemeOverride" Target="../theme/themeOverride5.xml"/><Relationship Id="rId5" Type="http://schemas.openxmlformats.org/officeDocument/2006/relationships/hyperlink" Target="https://doi.org/10.3390/s21238136" TargetMode="External"/><Relationship Id="rId4" Type="http://schemas.openxmlformats.org/officeDocument/2006/relationships/hyperlink" Target="https://doi.org/10.3390/rs13183757"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hemeOverride" Target="../theme/themeOverride6.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D41056-4826-E277-113A-B4078D82D4B7}"/>
              </a:ext>
            </a:extLst>
          </p:cNvPr>
          <p:cNvSpPr txBox="1"/>
          <p:nvPr/>
        </p:nvSpPr>
        <p:spPr>
          <a:xfrm>
            <a:off x="0" y="0"/>
            <a:ext cx="18288000" cy="6309420"/>
          </a:xfrm>
          <a:prstGeom prst="rect">
            <a:avLst/>
          </a:prstGeom>
          <a:noFill/>
        </p:spPr>
        <p:txBody>
          <a:bodyPr wrap="square" rtlCol="0">
            <a:spAutoFit/>
          </a:bodyPr>
          <a:lstStyle/>
          <a:p>
            <a:r>
              <a:rPr lang="en-US" sz="5400" b="1" cap="all" dirty="0">
                <a:latin typeface="Times New Roman" panose="02020603050405020304" pitchFamily="18" charset="0"/>
                <a:cs typeface="Times New Roman" panose="02020603050405020304" pitchFamily="18" charset="0"/>
              </a:rPr>
              <a:t>                        </a:t>
            </a:r>
            <a:br>
              <a:rPr lang="en-US" sz="5400" b="1" cap="all" dirty="0">
                <a:latin typeface="Times New Roman" panose="02020603050405020304" pitchFamily="18" charset="0"/>
                <a:cs typeface="Times New Roman" panose="02020603050405020304" pitchFamily="18" charset="0"/>
              </a:rPr>
            </a:br>
            <a:r>
              <a:rPr lang="en-US" sz="5400" b="1" cap="all" dirty="0">
                <a:latin typeface="Times New Roman" panose="02020603050405020304" pitchFamily="18" charset="0"/>
                <a:cs typeface="Times New Roman" panose="02020603050405020304" pitchFamily="18" charset="0"/>
              </a:rPr>
              <a:t>                            </a:t>
            </a:r>
            <a:br>
              <a:rPr lang="en-US" sz="3200" b="1"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a:p>
            <a:pPr algn="ctr"/>
            <a:r>
              <a:rPr lang="en-US" sz="3600" b="1" dirty="0">
                <a:latin typeface="Times New Roman" panose="02020603050405020304" pitchFamily="18" charset="0"/>
                <a:cs typeface="Times New Roman" panose="02020603050405020304" pitchFamily="18" charset="0"/>
              </a:rPr>
              <a:t>Early identification of Glacial Lakes Outburst Floods (GLOFs) using deep learning algorithms with different backbones and loss functions</a:t>
            </a:r>
          </a:p>
          <a:p>
            <a:pPr algn="ctr"/>
            <a:endParaRPr lang="en-US" sz="3200" b="1" dirty="0">
              <a:latin typeface="Times New Roman" panose="02020603050405020304" pitchFamily="18" charset="0"/>
              <a:cs typeface="Times New Roman" panose="02020603050405020304" pitchFamily="18" charset="0"/>
            </a:endParaRPr>
          </a:p>
          <a:p>
            <a:pPr algn="ctr"/>
            <a:r>
              <a:rPr lang="en-US" sz="3200" b="1" dirty="0">
                <a:latin typeface="Times New Roman" panose="02020603050405020304" pitchFamily="18" charset="0"/>
                <a:cs typeface="Times New Roman" panose="02020603050405020304" pitchFamily="18" charset="0"/>
              </a:rPr>
              <a:t>Sundeep Raj , Assistant Professor , CSEAIML, KIET Ghaziabad</a:t>
            </a:r>
          </a:p>
          <a:p>
            <a:pPr algn="ctr"/>
            <a:r>
              <a:rPr lang="en-US" sz="3200" b="1" dirty="0">
                <a:latin typeface="Times New Roman" panose="02020603050405020304" pitchFamily="18" charset="0"/>
                <a:cs typeface="Times New Roman" panose="02020603050405020304" pitchFamily="18" charset="0"/>
              </a:rPr>
              <a:t>Shikhar Singh , B.Tech CSEAI , KIET Ghaziabad   </a:t>
            </a:r>
          </a:p>
          <a:p>
            <a:pPr algn="ctr"/>
            <a:r>
              <a:rPr lang="en-US" sz="3200" b="1" dirty="0">
                <a:latin typeface="Times New Roman" panose="02020603050405020304" pitchFamily="18" charset="0"/>
                <a:cs typeface="Times New Roman" panose="02020603050405020304" pitchFamily="18" charset="0"/>
              </a:rPr>
              <a:t>Vilakshan Saini , B.Tech CSEAI , KIET Ghaziabad</a:t>
            </a:r>
          </a:p>
          <a:p>
            <a:pPr algn="ctr"/>
            <a:r>
              <a:rPr lang="en-US" sz="3200" b="1" dirty="0">
                <a:latin typeface="Times New Roman" panose="02020603050405020304" pitchFamily="18" charset="0"/>
                <a:cs typeface="Times New Roman" panose="02020603050405020304" pitchFamily="18" charset="0"/>
              </a:rPr>
              <a:t>Shakti Kumar , B.Tech CSEAI , KIET Ghaziabad</a:t>
            </a:r>
          </a:p>
          <a:p>
            <a:pPr algn="ctr"/>
            <a:endParaRPr lang="en-US" sz="3200" dirty="0">
              <a:latin typeface="Times New Roman" panose="02020603050405020304" pitchFamily="18" charset="0"/>
              <a:cs typeface="Times New Roman" panose="02020603050405020304" pitchFamily="18" charset="0"/>
            </a:endParaRPr>
          </a:p>
        </p:txBody>
      </p:sp>
      <p:sp>
        <p:nvSpPr>
          <p:cNvPr id="2" name="Footer Placeholder 6">
            <a:extLst>
              <a:ext uri="{FF2B5EF4-FFF2-40B4-BE49-F238E27FC236}">
                <a16:creationId xmlns:a16="http://schemas.microsoft.com/office/drawing/2014/main" id="{86FDF24C-9C8A-E3DC-9737-40FC53602B45}"/>
              </a:ext>
            </a:extLst>
          </p:cNvPr>
          <p:cNvSpPr>
            <a:spLocks noGrp="1"/>
          </p:cNvSpPr>
          <p:nvPr>
            <p:ph type="ftr" sz="quarter" idx="11"/>
          </p:nvPr>
        </p:nvSpPr>
        <p:spPr>
          <a:xfrm>
            <a:off x="6057900" y="9534526"/>
            <a:ext cx="6172200" cy="547688"/>
          </a:xfrm>
        </p:spPr>
        <p:txBody>
          <a:bodyPr/>
          <a:lstStyle/>
          <a:p>
            <a:pPr defTabSz="1371600"/>
            <a:r>
              <a:rPr lang="en-US" sz="2000" b="1" dirty="0">
                <a:solidFill>
                  <a:srgbClr val="002060"/>
                </a:solidFill>
              </a:rPr>
              <a:t>Made By : SHIKHAR SINGH</a:t>
            </a:r>
          </a:p>
        </p:txBody>
      </p:sp>
    </p:spTree>
    <p:extLst>
      <p:ext uri="{BB962C8B-B14F-4D97-AF65-F5344CB8AC3E}">
        <p14:creationId xmlns:p14="http://schemas.microsoft.com/office/powerpoint/2010/main" val="3644773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752494" y="400050"/>
            <a:ext cx="11655758" cy="1238250"/>
          </a:xfrm>
          <a:prstGeom prst="rect">
            <a:avLst/>
          </a:prstGeom>
        </p:spPr>
        <p:txBody>
          <a:bodyPr lIns="0" tIns="0" rIns="0" bIns="0" rtlCol="0" anchor="t">
            <a:spAutoFit/>
          </a:bodyPr>
          <a:lstStyle/>
          <a:p>
            <a:pPr algn="l">
              <a:lnSpc>
                <a:spcPts val="9600"/>
              </a:lnSpc>
            </a:pPr>
            <a:r>
              <a:rPr lang="en-US" sz="8000" b="1" spc="-504" dirty="0">
                <a:latin typeface="Times New Roman" panose="02020603050405020304" pitchFamily="18" charset="0"/>
                <a:ea typeface="Public Sans Bold"/>
                <a:cs typeface="Times New Roman" panose="02020603050405020304" pitchFamily="18" charset="0"/>
                <a:sym typeface="Public Sans Bold"/>
              </a:rPr>
              <a:t>Outline of Proceedings </a:t>
            </a:r>
          </a:p>
        </p:txBody>
      </p:sp>
      <p:sp>
        <p:nvSpPr>
          <p:cNvPr id="6" name="TextBox 6"/>
          <p:cNvSpPr txBox="1"/>
          <p:nvPr/>
        </p:nvSpPr>
        <p:spPr>
          <a:xfrm>
            <a:off x="1524000" y="2043744"/>
            <a:ext cx="14438336" cy="7764626"/>
          </a:xfrm>
          <a:prstGeom prst="rect">
            <a:avLst/>
          </a:prstGeom>
        </p:spPr>
        <p:txBody>
          <a:bodyPr wrap="square" lIns="0" tIns="0" rIns="0" bIns="0" rtlCol="0" anchor="t">
            <a:spAutoFit/>
          </a:bodyPr>
          <a:lstStyle/>
          <a:p>
            <a:pPr marL="514350" indent="-514350">
              <a:lnSpc>
                <a:spcPct val="150000"/>
              </a:lnSpc>
              <a:buFont typeface="+mj-lt"/>
              <a:buAutoNum type="arabicPeriod"/>
            </a:pPr>
            <a:r>
              <a:rPr lang="en-US" sz="3474" b="1" spc="243" dirty="0">
                <a:latin typeface="Times New Roman" panose="02020603050405020304" pitchFamily="18" charset="0"/>
                <a:ea typeface="Helveticish Bold"/>
                <a:cs typeface="Times New Roman" panose="02020603050405020304" pitchFamily="18" charset="0"/>
                <a:sym typeface="Helveticish Bold"/>
              </a:rPr>
              <a:t>INTRODUCTION</a:t>
            </a:r>
          </a:p>
          <a:p>
            <a:pPr marL="514350" indent="-514350">
              <a:lnSpc>
                <a:spcPct val="150000"/>
              </a:lnSpc>
              <a:buFont typeface="+mj-lt"/>
              <a:buAutoNum type="arabicPeriod"/>
            </a:pPr>
            <a:r>
              <a:rPr lang="en-US" sz="3474" b="1" spc="243" dirty="0">
                <a:latin typeface="Times New Roman" panose="02020603050405020304" pitchFamily="18" charset="0"/>
                <a:ea typeface="Helveticish Bold"/>
                <a:cs typeface="Times New Roman" panose="02020603050405020304" pitchFamily="18" charset="0"/>
                <a:sym typeface="Helveticish Bold"/>
              </a:rPr>
              <a:t>PROBLEM STATEMENT</a:t>
            </a:r>
          </a:p>
          <a:p>
            <a:pPr marL="514350" indent="-514350">
              <a:lnSpc>
                <a:spcPct val="150000"/>
              </a:lnSpc>
              <a:buFont typeface="+mj-lt"/>
              <a:buAutoNum type="arabicPeriod"/>
            </a:pPr>
            <a:r>
              <a:rPr lang="en-US" sz="3474" b="1" spc="243" dirty="0">
                <a:latin typeface="Times New Roman" panose="02020603050405020304" pitchFamily="18" charset="0"/>
                <a:ea typeface="Helveticish Bold"/>
                <a:cs typeface="Times New Roman" panose="02020603050405020304" pitchFamily="18" charset="0"/>
                <a:sym typeface="Helveticish Bold"/>
              </a:rPr>
              <a:t>DATASET DESTRIPTION &amp; STUDY REGION</a:t>
            </a:r>
          </a:p>
          <a:p>
            <a:pPr marL="514350" indent="-514350">
              <a:lnSpc>
                <a:spcPct val="150000"/>
              </a:lnSpc>
              <a:buFont typeface="+mj-lt"/>
              <a:buAutoNum type="arabicPeriod"/>
            </a:pPr>
            <a:r>
              <a:rPr lang="en-US" sz="3474" b="1" spc="243" dirty="0">
                <a:latin typeface="Times New Roman" panose="02020603050405020304" pitchFamily="18" charset="0"/>
                <a:ea typeface="Helveticish Bold"/>
                <a:cs typeface="Times New Roman" panose="02020603050405020304" pitchFamily="18" charset="0"/>
                <a:sym typeface="Helveticish Bold"/>
              </a:rPr>
              <a:t>LITERATURE REVIEW </a:t>
            </a:r>
          </a:p>
          <a:p>
            <a:pPr marL="514350" indent="-514350">
              <a:lnSpc>
                <a:spcPct val="150000"/>
              </a:lnSpc>
              <a:buFont typeface="+mj-lt"/>
              <a:buAutoNum type="arabicPeriod"/>
            </a:pPr>
            <a:r>
              <a:rPr lang="en-US" sz="3474" b="1" spc="243" dirty="0">
                <a:latin typeface="Times New Roman" panose="02020603050405020304" pitchFamily="18" charset="0"/>
                <a:ea typeface="Helveticish Bold"/>
                <a:cs typeface="Times New Roman" panose="02020603050405020304" pitchFamily="18" charset="0"/>
                <a:sym typeface="Helveticish Bold"/>
              </a:rPr>
              <a:t>METHODOLOGY</a:t>
            </a:r>
          </a:p>
          <a:p>
            <a:pPr marL="514350" indent="-514350">
              <a:lnSpc>
                <a:spcPct val="150000"/>
              </a:lnSpc>
              <a:buFont typeface="+mj-lt"/>
              <a:buAutoNum type="arabicPeriod"/>
            </a:pPr>
            <a:r>
              <a:rPr lang="en-US" sz="3200" b="1" dirty="0">
                <a:latin typeface="Bodoni MT" panose="02070603080606020203" pitchFamily="18" charset="0"/>
              </a:rPr>
              <a:t>RESULTS</a:t>
            </a:r>
            <a:endParaRPr lang="en-IN" sz="3200" b="1" dirty="0">
              <a:latin typeface="Bodoni MT" panose="02070603080606020203" pitchFamily="18" charset="0"/>
            </a:endParaRPr>
          </a:p>
          <a:p>
            <a:pPr marL="514350" indent="-514350">
              <a:lnSpc>
                <a:spcPct val="150000"/>
              </a:lnSpc>
              <a:buFont typeface="+mj-lt"/>
              <a:buAutoNum type="arabicPeriod"/>
            </a:pPr>
            <a:r>
              <a:rPr lang="en-US" sz="3200" b="1" dirty="0">
                <a:latin typeface="Bodoni MT" panose="02070603080606020203" pitchFamily="18" charset="0"/>
              </a:rPr>
              <a:t>FUTURE WORK</a:t>
            </a:r>
            <a:endParaRPr lang="en-IN" sz="3200" b="1" dirty="0">
              <a:latin typeface="Bodoni MT" panose="02070603080606020203" pitchFamily="18" charset="0"/>
            </a:endParaRPr>
          </a:p>
          <a:p>
            <a:pPr marL="514350" indent="-514350">
              <a:lnSpc>
                <a:spcPct val="150000"/>
              </a:lnSpc>
              <a:buFont typeface="+mj-lt"/>
              <a:buAutoNum type="arabicPeriod"/>
            </a:pPr>
            <a:r>
              <a:rPr lang="en-US" sz="3200" b="1" dirty="0">
                <a:latin typeface="Bodoni MT" panose="02070603080606020203" pitchFamily="18" charset="0"/>
              </a:rPr>
              <a:t>REFERENCES</a:t>
            </a:r>
            <a:endParaRPr lang="en-IN" sz="3200" b="1" dirty="0">
              <a:latin typeface="Bodoni MT" panose="02070603080606020203" pitchFamily="18" charset="0"/>
            </a:endParaRPr>
          </a:p>
          <a:p>
            <a:pPr>
              <a:lnSpc>
                <a:spcPts val="3995"/>
              </a:lnSpc>
            </a:pPr>
            <a:endParaRPr lang="en-US" sz="3474" b="1" spc="243" dirty="0">
              <a:latin typeface="Times New Roman" panose="02020603050405020304" pitchFamily="18" charset="0"/>
              <a:ea typeface="Helveticish Bold"/>
              <a:cs typeface="Times New Roman" panose="02020603050405020304" pitchFamily="18" charset="0"/>
              <a:sym typeface="Helveticish Bold"/>
            </a:endParaRPr>
          </a:p>
          <a:p>
            <a:pPr>
              <a:lnSpc>
                <a:spcPts val="3995"/>
              </a:lnSpc>
            </a:pPr>
            <a:endParaRPr lang="en-US" sz="3474" b="1" spc="243" dirty="0">
              <a:latin typeface="Times New Roman" panose="02020603050405020304" pitchFamily="18" charset="0"/>
              <a:ea typeface="Helveticish Bold"/>
              <a:cs typeface="Times New Roman" panose="02020603050405020304" pitchFamily="18" charset="0"/>
              <a:sym typeface="Helveticish Bold"/>
            </a:endParaRPr>
          </a:p>
          <a:p>
            <a:pPr>
              <a:lnSpc>
                <a:spcPts val="3995"/>
              </a:lnSpc>
            </a:pPr>
            <a:endParaRPr lang="en-US" sz="3474" b="1" spc="243" dirty="0">
              <a:latin typeface="Times New Roman" panose="02020603050405020304" pitchFamily="18" charset="0"/>
              <a:ea typeface="Helveticish Bold"/>
              <a:cs typeface="Times New Roman" panose="02020603050405020304" pitchFamily="18" charset="0"/>
              <a:sym typeface="Helveticish Bold"/>
            </a:endParaRPr>
          </a:p>
        </p:txBody>
      </p:sp>
      <p:sp>
        <p:nvSpPr>
          <p:cNvPr id="7" name="Footer Placeholder 6">
            <a:extLst>
              <a:ext uri="{FF2B5EF4-FFF2-40B4-BE49-F238E27FC236}">
                <a16:creationId xmlns:a16="http://schemas.microsoft.com/office/drawing/2014/main" id="{35E25677-4665-92F3-4DDE-FB6B5E3CB14E}"/>
              </a:ext>
            </a:extLst>
          </p:cNvPr>
          <p:cNvSpPr>
            <a:spLocks noGrp="1"/>
          </p:cNvSpPr>
          <p:nvPr>
            <p:ph type="ftr" sz="quarter" idx="11"/>
          </p:nvPr>
        </p:nvSpPr>
        <p:spPr/>
        <p:txBody>
          <a:bodyPr/>
          <a:lstStyle/>
          <a:p>
            <a:pPr defTabSz="1371600"/>
            <a:r>
              <a:rPr lang="en-US" sz="2000" b="1" dirty="0">
                <a:solidFill>
                  <a:srgbClr val="002060"/>
                </a:solidFill>
              </a:rPr>
              <a:t>Made By : SHIKHAR SINGH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anim calcmode="lin" valueType="num">
                                      <p:cBhvr>
                                        <p:cTn id="8" dur="250" fill="hold"/>
                                        <p:tgtEl>
                                          <p:spTgt spid="6"/>
                                        </p:tgtEl>
                                        <p:attrNameLst>
                                          <p:attrName>ppt_x</p:attrName>
                                        </p:attrNameLst>
                                      </p:cBhvr>
                                      <p:tavLst>
                                        <p:tav tm="0">
                                          <p:val>
                                            <p:strVal val="#ppt_x"/>
                                          </p:val>
                                        </p:tav>
                                        <p:tav tm="100000">
                                          <p:val>
                                            <p:strVal val="#ppt_x"/>
                                          </p:val>
                                        </p:tav>
                                      </p:tavLst>
                                    </p:anim>
                                    <p:anim calcmode="lin" valueType="num">
                                      <p:cBhvr>
                                        <p:cTn id="9" dur="2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4"/>
          <p:cNvSpPr txBox="1"/>
          <p:nvPr/>
        </p:nvSpPr>
        <p:spPr>
          <a:xfrm>
            <a:off x="752494" y="400050"/>
            <a:ext cx="11655758" cy="1238250"/>
          </a:xfrm>
          <a:prstGeom prst="rect">
            <a:avLst/>
          </a:prstGeom>
        </p:spPr>
        <p:txBody>
          <a:bodyPr lIns="0" tIns="0" rIns="0" bIns="0" rtlCol="0" anchor="t">
            <a:spAutoFit/>
          </a:bodyPr>
          <a:lstStyle/>
          <a:p>
            <a:pPr algn="l">
              <a:lnSpc>
                <a:spcPts val="9600"/>
              </a:lnSpc>
            </a:pPr>
            <a:r>
              <a:rPr lang="en-US" sz="8000" b="1" spc="-504" dirty="0">
                <a:latin typeface="Times New Roman" panose="02020603050405020304" pitchFamily="18" charset="0"/>
                <a:ea typeface="Public Sans Bold"/>
                <a:cs typeface="Times New Roman" panose="02020603050405020304" pitchFamily="18" charset="0"/>
                <a:sym typeface="Public Sans Bold"/>
              </a:rPr>
              <a:t>Introduction</a:t>
            </a:r>
          </a:p>
        </p:txBody>
      </p:sp>
      <p:sp>
        <p:nvSpPr>
          <p:cNvPr id="5" name="TextBox 5"/>
          <p:cNvSpPr txBox="1"/>
          <p:nvPr/>
        </p:nvSpPr>
        <p:spPr>
          <a:xfrm>
            <a:off x="1295400" y="1866900"/>
            <a:ext cx="16002000" cy="5609869"/>
          </a:xfrm>
          <a:prstGeom prst="rect">
            <a:avLst/>
          </a:prstGeom>
        </p:spPr>
        <p:txBody>
          <a:bodyPr wrap="square" lIns="0" tIns="0" rIns="0" bIns="0" rtlCol="0" anchor="t">
            <a:spAutoFit/>
          </a:bodyPr>
          <a:lstStyle/>
          <a:p>
            <a:pPr marL="457200" indent="-457200">
              <a:lnSpc>
                <a:spcPts val="4423"/>
              </a:lnSpc>
              <a:buFont typeface="Wingdings" panose="05000000000000000000" pitchFamily="2" charset="2"/>
              <a:buChar char="Ø"/>
            </a:pPr>
            <a:r>
              <a:rPr lang="en-US" sz="3200" dirty="0"/>
              <a:t>GLOFs are powerful and infrequent events capable of causing sudden, destructive floods and reshaping entire mountain landscapes.</a:t>
            </a:r>
          </a:p>
          <a:p>
            <a:pPr marL="457200" indent="-457200">
              <a:lnSpc>
                <a:spcPts val="4423"/>
              </a:lnSpc>
              <a:buFont typeface="Wingdings" panose="05000000000000000000" pitchFamily="2" charset="2"/>
              <a:buChar char="Ø"/>
            </a:pPr>
            <a:r>
              <a:rPr lang="en-US" sz="3200" dirty="0"/>
              <a:t>With global temperatures increasing, the expansion of glacial lakes has made high-altitude regions more exposed to this threat.</a:t>
            </a:r>
          </a:p>
          <a:p>
            <a:pPr marL="457200" indent="-457200">
              <a:lnSpc>
                <a:spcPts val="4423"/>
              </a:lnSpc>
              <a:buFont typeface="Wingdings" panose="05000000000000000000" pitchFamily="2" charset="2"/>
              <a:buChar char="Ø"/>
            </a:pPr>
            <a:r>
              <a:rPr lang="en-US" sz="3200" dirty="0"/>
              <a:t>By leveraging advanced deep learning models on satellite data, we aim to deliver precise glacial lake identification and strengthen early detection systems for GLOF prevention.</a:t>
            </a:r>
          </a:p>
          <a:p>
            <a:pPr marL="457200" indent="-457200">
              <a:lnSpc>
                <a:spcPts val="4423"/>
              </a:lnSpc>
              <a:buFont typeface="Wingdings" panose="05000000000000000000" pitchFamily="2" charset="2"/>
              <a:buChar char="Ø"/>
            </a:pPr>
            <a:r>
              <a:rPr lang="en-US" sz="3200" dirty="0"/>
              <a:t>These models enable continuous, large-scale monitoring of dynamic glacial environments, reducing the dependence on manual assessment and field-based observations.</a:t>
            </a:r>
          </a:p>
          <a:p>
            <a:pPr marL="457200" indent="-457200">
              <a:lnSpc>
                <a:spcPts val="4423"/>
              </a:lnSpc>
              <a:buFont typeface="Wingdings" panose="05000000000000000000" pitchFamily="2" charset="2"/>
              <a:buChar char="Ø"/>
            </a:pPr>
            <a:r>
              <a:rPr lang="en-US" sz="3200" dirty="0"/>
              <a:t>The resulting insights support more reliable early-warning systems and inform disaster-preparedness strategies for communities at risk.</a:t>
            </a:r>
          </a:p>
        </p:txBody>
      </p:sp>
      <p:sp>
        <p:nvSpPr>
          <p:cNvPr id="2" name="Footer Placeholder 1">
            <a:extLst>
              <a:ext uri="{FF2B5EF4-FFF2-40B4-BE49-F238E27FC236}">
                <a16:creationId xmlns:a16="http://schemas.microsoft.com/office/drawing/2014/main" id="{8804959E-21F3-1556-868D-B1B5B7115732}"/>
              </a:ext>
            </a:extLst>
          </p:cNvPr>
          <p:cNvSpPr>
            <a:spLocks noGrp="1"/>
          </p:cNvSpPr>
          <p:nvPr>
            <p:ph type="ftr" sz="quarter" idx="11"/>
          </p:nvPr>
        </p:nvSpPr>
        <p:spPr/>
        <p:txBody>
          <a:bodyPr/>
          <a:lstStyle/>
          <a:p>
            <a:pPr defTabSz="1371600"/>
            <a:r>
              <a:rPr lang="en-US" sz="2000" b="1" dirty="0">
                <a:solidFill>
                  <a:srgbClr val="002060"/>
                </a:solidFill>
              </a:rPr>
              <a:t>Made By : SHIKHAR SINGH</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752494" y="1810558"/>
            <a:ext cx="16849706" cy="5609677"/>
          </a:xfrm>
          <a:prstGeom prst="rect">
            <a:avLst/>
          </a:prstGeom>
        </p:spPr>
        <p:txBody>
          <a:bodyPr wrap="square" lIns="0" tIns="0" rIns="0" bIns="0" rtlCol="0" anchor="t">
            <a:spAutoFit/>
          </a:bodyPr>
          <a:lstStyle/>
          <a:p>
            <a:pPr marL="682048" lvl="1" indent="-341024" algn="just">
              <a:lnSpc>
                <a:spcPts val="4422"/>
              </a:lnSpc>
              <a:buFont typeface="Arial"/>
              <a:buChar char="•"/>
            </a:pPr>
            <a:r>
              <a:rPr lang="en-US" sz="3600" b="1" dirty="0">
                <a:latin typeface="Times New Roman" panose="02020603050405020304" pitchFamily="18" charset="0"/>
                <a:ea typeface="Public Sans"/>
                <a:cs typeface="Times New Roman" panose="02020603050405020304" pitchFamily="18" charset="0"/>
                <a:sym typeface="Public Sans"/>
              </a:rPr>
              <a:t>Research Gap and Challenges:</a:t>
            </a:r>
          </a:p>
          <a:p>
            <a:pPr marL="912524" lvl="1" indent="-571500" algn="just">
              <a:lnSpc>
                <a:spcPts val="4422"/>
              </a:lnSpc>
              <a:buFont typeface="Wingdings" panose="05000000000000000000" pitchFamily="2" charset="2"/>
              <a:buChar char="Ø"/>
            </a:pPr>
            <a:r>
              <a:rPr lang="en-US" sz="3600" dirty="0">
                <a:latin typeface="Times New Roman" panose="02020603050405020304" pitchFamily="18" charset="0"/>
                <a:ea typeface="Public Sans"/>
                <a:cs typeface="Times New Roman" panose="02020603050405020304" pitchFamily="18" charset="0"/>
                <a:sym typeface="Public Sans"/>
              </a:rPr>
              <a:t>Climate change has intensified glacial melt, leading to a rising incidence of GLOF events.</a:t>
            </a:r>
          </a:p>
          <a:p>
            <a:pPr marL="912524" lvl="1" indent="-571500" algn="just">
              <a:lnSpc>
                <a:spcPts val="4422"/>
              </a:lnSpc>
              <a:buFont typeface="Wingdings" panose="05000000000000000000" pitchFamily="2" charset="2"/>
              <a:buChar char="Ø"/>
            </a:pPr>
            <a:r>
              <a:rPr lang="en-US" sz="3600" dirty="0">
                <a:latin typeface="Times New Roman" panose="02020603050405020304" pitchFamily="18" charset="0"/>
                <a:ea typeface="Public Sans"/>
                <a:cs typeface="Times New Roman" panose="02020603050405020304" pitchFamily="18" charset="0"/>
                <a:sym typeface="Public Sans"/>
              </a:rPr>
              <a:t>Existing detection and monitoring techniques are often slow, labor-intensive, and limited in scalability.</a:t>
            </a:r>
          </a:p>
          <a:p>
            <a:pPr marL="912524" lvl="1" indent="-571500" algn="just">
              <a:lnSpc>
                <a:spcPts val="4422"/>
              </a:lnSpc>
              <a:buFont typeface="Wingdings" panose="05000000000000000000" pitchFamily="2" charset="2"/>
              <a:buChar char="Ø"/>
            </a:pPr>
            <a:r>
              <a:rPr lang="en-US" sz="3600" dirty="0">
                <a:latin typeface="Times New Roman" panose="02020603050405020304" pitchFamily="18" charset="0"/>
                <a:ea typeface="Public Sans"/>
                <a:cs typeface="Times New Roman" panose="02020603050405020304" pitchFamily="18" charset="0"/>
                <a:sym typeface="Public Sans"/>
              </a:rPr>
              <a:t>The severe socioeconomic consequences for high-risk communities highlight the need for timely and reliable early-warning mechanisms.</a:t>
            </a:r>
          </a:p>
          <a:p>
            <a:pPr marL="912524" lvl="1" indent="-571500" algn="just">
              <a:lnSpc>
                <a:spcPts val="4422"/>
              </a:lnSpc>
              <a:buFont typeface="Wingdings" panose="05000000000000000000" pitchFamily="2" charset="2"/>
              <a:buChar char="Ø"/>
            </a:pPr>
            <a:r>
              <a:rPr lang="en-US" sz="3600" dirty="0">
                <a:latin typeface="Times New Roman" panose="02020603050405020304" pitchFamily="18" charset="0"/>
                <a:ea typeface="Public Sans"/>
                <a:cs typeface="Times New Roman" panose="02020603050405020304" pitchFamily="18" charset="0"/>
                <a:sym typeface="Public Sans"/>
              </a:rPr>
              <a:t>There is a lack of comprehensive studies evaluating the effectiveness of Deep Learning models for accurate segmentation and classification of glacial lakes.</a:t>
            </a:r>
          </a:p>
          <a:p>
            <a:pPr marL="912524" lvl="1" indent="-571500" algn="just">
              <a:lnSpc>
                <a:spcPts val="4422"/>
              </a:lnSpc>
              <a:buFont typeface="Wingdings" panose="05000000000000000000" pitchFamily="2" charset="2"/>
              <a:buChar char="Ø"/>
            </a:pPr>
            <a:r>
              <a:rPr lang="en-US" sz="3600" dirty="0"/>
              <a:t>Achieving robust GLOF prediction accuracy remains a significant challenge.</a:t>
            </a:r>
            <a:endParaRPr lang="en-US" sz="3600" dirty="0">
              <a:latin typeface="Times New Roman" panose="02020603050405020304" pitchFamily="18" charset="0"/>
              <a:ea typeface="Public Sans"/>
              <a:cs typeface="Times New Roman" panose="02020603050405020304" pitchFamily="18" charset="0"/>
              <a:sym typeface="Public Sans"/>
            </a:endParaRPr>
          </a:p>
        </p:txBody>
      </p:sp>
      <p:sp>
        <p:nvSpPr>
          <p:cNvPr id="4" name="TextBox 4"/>
          <p:cNvSpPr txBox="1"/>
          <p:nvPr/>
        </p:nvSpPr>
        <p:spPr>
          <a:xfrm>
            <a:off x="752494" y="400050"/>
            <a:ext cx="11655758" cy="1238250"/>
          </a:xfrm>
          <a:prstGeom prst="rect">
            <a:avLst/>
          </a:prstGeom>
        </p:spPr>
        <p:txBody>
          <a:bodyPr lIns="0" tIns="0" rIns="0" bIns="0" rtlCol="0" anchor="t">
            <a:spAutoFit/>
          </a:bodyPr>
          <a:lstStyle/>
          <a:p>
            <a:pPr algn="l">
              <a:lnSpc>
                <a:spcPts val="9600"/>
              </a:lnSpc>
            </a:pPr>
            <a:r>
              <a:rPr lang="en-US" sz="8000" b="1" spc="-504" dirty="0">
                <a:latin typeface="Times New Roman" panose="02020603050405020304" pitchFamily="18" charset="0"/>
                <a:ea typeface="Public Sans Bold"/>
                <a:cs typeface="Times New Roman" panose="02020603050405020304" pitchFamily="18" charset="0"/>
                <a:sym typeface="Public Sans Bold"/>
              </a:rPr>
              <a:t>Problem Statement</a:t>
            </a:r>
          </a:p>
        </p:txBody>
      </p:sp>
      <p:sp>
        <p:nvSpPr>
          <p:cNvPr id="2" name="Footer Placeholder 1">
            <a:extLst>
              <a:ext uri="{FF2B5EF4-FFF2-40B4-BE49-F238E27FC236}">
                <a16:creationId xmlns:a16="http://schemas.microsoft.com/office/drawing/2014/main" id="{C2177D37-99BF-D89D-B343-6A78687F8439}"/>
              </a:ext>
            </a:extLst>
          </p:cNvPr>
          <p:cNvSpPr>
            <a:spLocks noGrp="1"/>
          </p:cNvSpPr>
          <p:nvPr>
            <p:ph type="ftr" sz="quarter" idx="11"/>
          </p:nvPr>
        </p:nvSpPr>
        <p:spPr/>
        <p:txBody>
          <a:bodyPr/>
          <a:lstStyle/>
          <a:p>
            <a:pPr defTabSz="1371600"/>
            <a:r>
              <a:rPr lang="en-US" sz="2000" b="1" dirty="0">
                <a:solidFill>
                  <a:srgbClr val="002060"/>
                </a:solidFill>
              </a:rPr>
              <a:t>Made By : SHIKHAR SINGH</a:t>
            </a:r>
          </a:p>
        </p:txBody>
      </p:sp>
    </p:spTree>
  </p:cSld>
  <p:clrMapOvr>
    <a:overrideClrMapping bg1="lt1" tx1="dk1" bg2="lt2" tx2="dk2" accent1="accent1" accent2="accent2" accent3="accent3" accent4="accent4" accent5="accent5" accent6="accent6" hlink="hlink" folHlink="folHlink"/>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arn(inVertical)">
                                      <p:cBhvr>
                                        <p:cTn id="16" dur="500"/>
                                        <p:tgtEl>
                                          <p:spTgt spid="3">
                                            <p:txEl>
                                              <p:pRg st="3" end="3"/>
                                            </p:txEl>
                                          </p:spTgt>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arn(inVertical)">
                                      <p:cBhvr>
                                        <p:cTn id="19" dur="500"/>
                                        <p:tgtEl>
                                          <p:spTgt spid="3">
                                            <p:txEl>
                                              <p:pRg st="4" end="4"/>
                                            </p:txEl>
                                          </p:spTgt>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arn(inVertical)">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2812800" y="4234195"/>
            <a:ext cx="4337835" cy="4620478"/>
            <a:chOff x="0" y="0"/>
            <a:chExt cx="7293832" cy="7262008"/>
          </a:xfrm>
        </p:grpSpPr>
        <p:grpSp>
          <p:nvGrpSpPr>
            <p:cNvPr id="3" name="Group 3"/>
            <p:cNvGrpSpPr/>
            <p:nvPr/>
          </p:nvGrpSpPr>
          <p:grpSpPr>
            <a:xfrm>
              <a:off x="0" y="0"/>
              <a:ext cx="3494512" cy="3494512"/>
              <a:chOff x="0" y="0"/>
              <a:chExt cx="812800" cy="812800"/>
            </a:xfrm>
          </p:grpSpPr>
          <p:sp>
            <p:nvSpPr>
              <p:cNvPr id="4" name="Freeform 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4"/>
                <a:stretch>
                  <a:fillRect/>
                </a:stretch>
              </a:blipFill>
            </p:spPr>
            <p:txBody>
              <a:bodyPr/>
              <a:lstStyle/>
              <a:p>
                <a:endParaRPr lang="LID4096"/>
              </a:p>
            </p:txBody>
          </p:sp>
        </p:grpSp>
        <p:grpSp>
          <p:nvGrpSpPr>
            <p:cNvPr id="5" name="Group 5"/>
            <p:cNvGrpSpPr/>
            <p:nvPr/>
          </p:nvGrpSpPr>
          <p:grpSpPr>
            <a:xfrm>
              <a:off x="3799320" y="0"/>
              <a:ext cx="3494512" cy="3494512"/>
              <a:chOff x="0" y="0"/>
              <a:chExt cx="812800" cy="812800"/>
            </a:xfrm>
          </p:grpSpPr>
          <p:sp>
            <p:nvSpPr>
              <p:cNvPr id="6" name="Freeform 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5"/>
                <a:stretch>
                  <a:fillRect/>
                </a:stretch>
              </a:blipFill>
              <a:ln>
                <a:solidFill>
                  <a:schemeClr val="tx1"/>
                </a:solidFill>
              </a:ln>
            </p:spPr>
            <p:txBody>
              <a:bodyPr/>
              <a:lstStyle/>
              <a:p>
                <a:endParaRPr lang="LID4096"/>
              </a:p>
            </p:txBody>
          </p:sp>
        </p:grpSp>
        <p:grpSp>
          <p:nvGrpSpPr>
            <p:cNvPr id="7" name="Group 7"/>
            <p:cNvGrpSpPr/>
            <p:nvPr/>
          </p:nvGrpSpPr>
          <p:grpSpPr>
            <a:xfrm>
              <a:off x="0" y="3767496"/>
              <a:ext cx="3494512" cy="3494512"/>
              <a:chOff x="0" y="0"/>
              <a:chExt cx="812800" cy="812800"/>
            </a:xfrm>
          </p:grpSpPr>
          <p:sp>
            <p:nvSpPr>
              <p:cNvPr id="8" name="Freeform 8"/>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6"/>
                <a:stretch>
                  <a:fillRect/>
                </a:stretch>
              </a:blipFill>
            </p:spPr>
            <p:txBody>
              <a:bodyPr/>
              <a:lstStyle/>
              <a:p>
                <a:endParaRPr lang="LID4096" dirty="0"/>
              </a:p>
            </p:txBody>
          </p:sp>
        </p:grpSp>
        <p:grpSp>
          <p:nvGrpSpPr>
            <p:cNvPr id="9" name="Group 9"/>
            <p:cNvGrpSpPr/>
            <p:nvPr/>
          </p:nvGrpSpPr>
          <p:grpSpPr>
            <a:xfrm>
              <a:off x="3799320" y="3767496"/>
              <a:ext cx="3494512" cy="3494512"/>
              <a:chOff x="0" y="0"/>
              <a:chExt cx="812800" cy="812800"/>
            </a:xfrm>
          </p:grpSpPr>
          <p:sp>
            <p:nvSpPr>
              <p:cNvPr id="10" name="Freeform 1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7"/>
                <a:stretch>
                  <a:fillRect/>
                </a:stretch>
              </a:blipFill>
              <a:ln>
                <a:solidFill>
                  <a:schemeClr val="tx1"/>
                </a:solidFill>
              </a:ln>
            </p:spPr>
            <p:txBody>
              <a:bodyPr/>
              <a:lstStyle/>
              <a:p>
                <a:endParaRPr lang="LID4096" dirty="0"/>
              </a:p>
            </p:txBody>
          </p:sp>
        </p:grpSp>
      </p:grpSp>
      <p:sp>
        <p:nvSpPr>
          <p:cNvPr id="15" name="TextBox 15"/>
          <p:cNvSpPr txBox="1"/>
          <p:nvPr/>
        </p:nvSpPr>
        <p:spPr>
          <a:xfrm>
            <a:off x="300047" y="41864"/>
            <a:ext cx="10372706" cy="1231106"/>
          </a:xfrm>
          <a:prstGeom prst="rect">
            <a:avLst/>
          </a:prstGeom>
        </p:spPr>
        <p:txBody>
          <a:bodyPr wrap="square" lIns="0" tIns="0" rIns="0" bIns="0" rtlCol="0" anchor="t">
            <a:spAutoFit/>
          </a:bodyPr>
          <a:lstStyle/>
          <a:p>
            <a:pPr algn="l">
              <a:lnSpc>
                <a:spcPts val="9600"/>
              </a:lnSpc>
            </a:pPr>
            <a:r>
              <a:rPr lang="en-US" sz="8000" b="1" spc="-504" dirty="0">
                <a:solidFill>
                  <a:srgbClr val="272727"/>
                </a:solidFill>
                <a:latin typeface="Times New Roman" panose="02020603050405020304" pitchFamily="18" charset="0"/>
                <a:ea typeface="Public Sans Bold"/>
                <a:cs typeface="Times New Roman" panose="02020603050405020304" pitchFamily="18" charset="0"/>
                <a:sym typeface="Public Sans Bold"/>
              </a:rPr>
              <a:t>Dataset Description</a:t>
            </a:r>
          </a:p>
        </p:txBody>
      </p:sp>
      <p:sp>
        <p:nvSpPr>
          <p:cNvPr id="16" name="TextBox 16"/>
          <p:cNvSpPr txBox="1"/>
          <p:nvPr/>
        </p:nvSpPr>
        <p:spPr>
          <a:xfrm>
            <a:off x="46652" y="1554967"/>
            <a:ext cx="12139857" cy="8186344"/>
          </a:xfrm>
          <a:prstGeom prst="rect">
            <a:avLst/>
          </a:prstGeom>
        </p:spPr>
        <p:txBody>
          <a:bodyPr wrap="square" lIns="0" tIns="0" rIns="0" bIns="0" rtlCol="0" anchor="t">
            <a:spAutoFit/>
          </a:bodyPr>
          <a:lstStyle/>
          <a:p>
            <a:pPr marL="353510" lvl="1" algn="just">
              <a:lnSpc>
                <a:spcPts val="4584"/>
              </a:lnSpc>
            </a:pPr>
            <a:r>
              <a:rPr lang="en-US" sz="2800" dirty="0">
                <a:latin typeface="Times New Roman" panose="02020603050405020304" pitchFamily="18" charset="0"/>
                <a:ea typeface="Body Grotesque"/>
                <a:cs typeface="Times New Roman" panose="02020603050405020304" pitchFamily="18" charset="0"/>
                <a:sym typeface="Body Grotesque"/>
              </a:rPr>
              <a:t>Dataset contains 1200 optical images from Sentinel 2, operated by the European Space Agency.</a:t>
            </a:r>
          </a:p>
          <a:p>
            <a:pPr marL="353510" lvl="1" algn="just">
              <a:lnSpc>
                <a:spcPts val="4584"/>
              </a:lnSpc>
            </a:pPr>
            <a:r>
              <a:rPr lang="en-US" sz="2600" b="1" dirty="0">
                <a:latin typeface="Times New Roman" panose="02020603050405020304" pitchFamily="18" charset="0"/>
                <a:ea typeface="Body Grotesque"/>
                <a:cs typeface="Times New Roman" panose="02020603050405020304" pitchFamily="18" charset="0"/>
                <a:sym typeface="Body Grotesque"/>
              </a:rPr>
              <a:t>Training set:</a:t>
            </a:r>
            <a:r>
              <a:rPr lang="en-US" sz="2600" dirty="0">
                <a:latin typeface="Times New Roman" panose="02020603050405020304" pitchFamily="18" charset="0"/>
                <a:ea typeface="Body Grotesque"/>
                <a:cs typeface="Times New Roman" panose="02020603050405020304" pitchFamily="18" charset="0"/>
                <a:sym typeface="Body Grotesque"/>
              </a:rPr>
              <a:t> 1000           </a:t>
            </a:r>
            <a:r>
              <a:rPr lang="en-US" sz="2600" b="1" dirty="0">
                <a:latin typeface="Times New Roman" panose="02020603050405020304" pitchFamily="18" charset="0"/>
                <a:ea typeface="Body Grotesque"/>
                <a:cs typeface="Times New Roman" panose="02020603050405020304" pitchFamily="18" charset="0"/>
                <a:sym typeface="Body Grotesque"/>
              </a:rPr>
              <a:t>Test set:</a:t>
            </a:r>
            <a:r>
              <a:rPr lang="en-US" sz="2600" dirty="0">
                <a:latin typeface="Times New Roman" panose="02020603050405020304" pitchFamily="18" charset="0"/>
                <a:ea typeface="Body Grotesque"/>
                <a:cs typeface="Times New Roman" panose="02020603050405020304" pitchFamily="18" charset="0"/>
                <a:sym typeface="Body Grotesque"/>
              </a:rPr>
              <a:t> 200</a:t>
            </a:r>
          </a:p>
          <a:p>
            <a:pPr marL="353510" lvl="1" algn="just">
              <a:lnSpc>
                <a:spcPts val="4584"/>
              </a:lnSpc>
            </a:pPr>
            <a:r>
              <a:rPr lang="en-US" sz="2600" dirty="0">
                <a:latin typeface="Times New Roman" panose="02020603050405020304" pitchFamily="18" charset="0"/>
                <a:ea typeface="Body Grotesque"/>
                <a:cs typeface="Times New Roman" panose="02020603050405020304" pitchFamily="18" charset="0"/>
                <a:sym typeface="Body Grotesque"/>
              </a:rPr>
              <a:t>Each set contains three folders, namely:	</a:t>
            </a:r>
          </a:p>
          <a:p>
            <a:pPr marL="353510" lvl="1" algn="just">
              <a:lnSpc>
                <a:spcPts val="4584"/>
              </a:lnSpc>
            </a:pPr>
            <a:r>
              <a:rPr lang="en-US" sz="2600" i="1" dirty="0">
                <a:latin typeface="Times New Roman" panose="02020603050405020304" pitchFamily="18" charset="0"/>
                <a:ea typeface="Body Grotesque"/>
                <a:cs typeface="Times New Roman" panose="02020603050405020304" pitchFamily="18" charset="0"/>
                <a:sym typeface="Body Grotesque"/>
              </a:rPr>
              <a:t>images</a:t>
            </a:r>
            <a:r>
              <a:rPr lang="en-US" sz="2600" dirty="0">
                <a:latin typeface="Times New Roman" panose="02020603050405020304" pitchFamily="18" charset="0"/>
                <a:ea typeface="Body Grotesque"/>
                <a:cs typeface="Times New Roman" panose="02020603050405020304" pitchFamily="18" charset="0"/>
                <a:sym typeface="Body Grotesque"/>
              </a:rPr>
              <a:t>: optical images (*.png)	</a:t>
            </a:r>
          </a:p>
          <a:p>
            <a:pPr marL="353510" lvl="1" algn="just">
              <a:lnSpc>
                <a:spcPts val="4584"/>
              </a:lnSpc>
            </a:pPr>
            <a:r>
              <a:rPr lang="en-US" sz="2600" i="1" dirty="0">
                <a:latin typeface="Times New Roman" panose="02020603050405020304" pitchFamily="18" charset="0"/>
                <a:ea typeface="Body Grotesque"/>
                <a:cs typeface="Times New Roman" panose="02020603050405020304" pitchFamily="18" charset="0"/>
                <a:sym typeface="Body Grotesque"/>
              </a:rPr>
              <a:t>labels</a:t>
            </a:r>
            <a:r>
              <a:rPr lang="en-US" sz="2600" dirty="0">
                <a:latin typeface="Times New Roman" panose="02020603050405020304" pitchFamily="18" charset="0"/>
                <a:ea typeface="Body Grotesque"/>
                <a:cs typeface="Times New Roman" panose="02020603050405020304" pitchFamily="18" charset="0"/>
                <a:sym typeface="Body Grotesque"/>
              </a:rPr>
              <a:t>: ground truth segmentation RGB masks (*.png)</a:t>
            </a:r>
          </a:p>
          <a:p>
            <a:pPr marL="353510" lvl="1" algn="just">
              <a:lnSpc>
                <a:spcPts val="4584"/>
              </a:lnSpc>
            </a:pPr>
            <a:r>
              <a:rPr lang="en-US" sz="2600" i="1" dirty="0">
                <a:latin typeface="Times New Roman" panose="02020603050405020304" pitchFamily="18" charset="0"/>
                <a:ea typeface="Body Grotesque"/>
                <a:cs typeface="Times New Roman" panose="02020603050405020304" pitchFamily="18" charset="0"/>
                <a:sym typeface="Body Grotesque"/>
              </a:rPr>
              <a:t>labels_1D</a:t>
            </a:r>
            <a:r>
              <a:rPr lang="en-US" sz="2600" dirty="0">
                <a:latin typeface="Times New Roman" panose="02020603050405020304" pitchFamily="18" charset="0"/>
                <a:ea typeface="Body Grotesque"/>
                <a:cs typeface="Times New Roman" panose="02020603050405020304" pitchFamily="18" charset="0"/>
                <a:sym typeface="Body Grotesque"/>
              </a:rPr>
              <a:t>: ground truth segmentation labels (*.png)	</a:t>
            </a:r>
          </a:p>
          <a:p>
            <a:pPr marL="353510" lvl="1" algn="just">
              <a:lnSpc>
                <a:spcPts val="4584"/>
              </a:lnSpc>
            </a:pPr>
            <a:r>
              <a:rPr lang="en-US" sz="2600" b="1" dirty="0">
                <a:latin typeface="Times New Roman" panose="02020603050405020304" pitchFamily="18" charset="0"/>
                <a:ea typeface="Body Grotesque"/>
                <a:cs typeface="Times New Roman" panose="02020603050405020304" pitchFamily="18" charset="0"/>
                <a:sym typeface="Body Grotesque"/>
              </a:rPr>
              <a:t>RGB Masks:</a:t>
            </a:r>
          </a:p>
          <a:p>
            <a:pPr marL="353510" lvl="1" algn="just">
              <a:lnSpc>
                <a:spcPts val="4584"/>
              </a:lnSpc>
            </a:pPr>
            <a:r>
              <a:rPr lang="en-US" sz="2600" i="1" dirty="0">
                <a:latin typeface="Times New Roman" panose="02020603050405020304" pitchFamily="18" charset="0"/>
                <a:ea typeface="Body Grotesque"/>
                <a:cs typeface="Times New Roman" panose="02020603050405020304" pitchFamily="18" charset="0"/>
                <a:sym typeface="Body Grotesque"/>
              </a:rPr>
              <a:t>Black</a:t>
            </a:r>
            <a:r>
              <a:rPr lang="en-US" sz="2600" dirty="0">
                <a:latin typeface="Times New Roman" panose="02020603050405020304" pitchFamily="18" charset="0"/>
                <a:ea typeface="Body Grotesque"/>
                <a:cs typeface="Times New Roman" panose="02020603050405020304" pitchFamily="18" charset="0"/>
                <a:sym typeface="Body Grotesque"/>
              </a:rPr>
              <a:t>: Background	     </a:t>
            </a:r>
            <a:r>
              <a:rPr lang="en-US" sz="2600" i="1" dirty="0">
                <a:latin typeface="Times New Roman" panose="02020603050405020304" pitchFamily="18" charset="0"/>
                <a:ea typeface="Body Grotesque"/>
                <a:cs typeface="Times New Roman" panose="02020603050405020304" pitchFamily="18" charset="0"/>
                <a:sym typeface="Body Grotesque"/>
              </a:rPr>
              <a:t>White</a:t>
            </a:r>
            <a:r>
              <a:rPr lang="en-US" sz="2600" dirty="0">
                <a:latin typeface="Times New Roman" panose="02020603050405020304" pitchFamily="18" charset="0"/>
                <a:ea typeface="Body Grotesque"/>
                <a:cs typeface="Times New Roman" panose="02020603050405020304" pitchFamily="18" charset="0"/>
                <a:sym typeface="Body Grotesque"/>
              </a:rPr>
              <a:t>: Lake</a:t>
            </a:r>
          </a:p>
          <a:p>
            <a:pPr marL="353510" lvl="1" algn="just">
              <a:lnSpc>
                <a:spcPts val="4584"/>
              </a:lnSpc>
            </a:pPr>
            <a:r>
              <a:rPr lang="en-US" sz="2600" b="1" dirty="0">
                <a:latin typeface="Times New Roman" panose="02020603050405020304" pitchFamily="18" charset="0"/>
                <a:ea typeface="Body Grotesque"/>
                <a:cs typeface="Times New Roman" panose="02020603050405020304" pitchFamily="18" charset="0"/>
                <a:sym typeface="Body Grotesque"/>
              </a:rPr>
              <a:t>RGB Values: </a:t>
            </a:r>
          </a:p>
          <a:p>
            <a:pPr marL="353510" lvl="1" algn="just">
              <a:lnSpc>
                <a:spcPts val="4584"/>
              </a:lnSpc>
            </a:pPr>
            <a:r>
              <a:rPr lang="en-US" sz="2600" i="1" dirty="0">
                <a:latin typeface="Times New Roman" panose="02020603050405020304" pitchFamily="18" charset="0"/>
                <a:ea typeface="Body Grotesque"/>
                <a:cs typeface="Times New Roman" panose="02020603050405020304" pitchFamily="18" charset="0"/>
                <a:sym typeface="Body Grotesque"/>
              </a:rPr>
              <a:t>Black</a:t>
            </a:r>
            <a:r>
              <a:rPr lang="en-US" sz="2600" dirty="0">
                <a:latin typeface="Times New Roman" panose="02020603050405020304" pitchFamily="18" charset="0"/>
                <a:ea typeface="Body Grotesque"/>
                <a:cs typeface="Times New Roman" panose="02020603050405020304" pitchFamily="18" charset="0"/>
                <a:sym typeface="Body Grotesque"/>
              </a:rPr>
              <a:t>: (0,0,0)	                </a:t>
            </a:r>
            <a:r>
              <a:rPr lang="en-US" sz="2600" i="1" dirty="0">
                <a:latin typeface="Times New Roman" panose="02020603050405020304" pitchFamily="18" charset="0"/>
                <a:ea typeface="Body Grotesque"/>
                <a:cs typeface="Times New Roman" panose="02020603050405020304" pitchFamily="18" charset="0"/>
                <a:sym typeface="Body Grotesque"/>
              </a:rPr>
              <a:t>White</a:t>
            </a:r>
            <a:r>
              <a:rPr lang="en-US" sz="2600" dirty="0">
                <a:latin typeface="Times New Roman" panose="02020603050405020304" pitchFamily="18" charset="0"/>
                <a:ea typeface="Body Grotesque"/>
                <a:cs typeface="Times New Roman" panose="02020603050405020304" pitchFamily="18" charset="0"/>
                <a:sym typeface="Body Grotesque"/>
              </a:rPr>
              <a:t>: (255,255,255)	</a:t>
            </a:r>
          </a:p>
          <a:p>
            <a:pPr marL="353510" lvl="1" algn="just">
              <a:lnSpc>
                <a:spcPts val="4584"/>
              </a:lnSpc>
            </a:pPr>
            <a:r>
              <a:rPr lang="en-US" sz="2600" b="1" dirty="0">
                <a:latin typeface="Times New Roman" panose="02020603050405020304" pitchFamily="18" charset="0"/>
                <a:ea typeface="Body Grotesque"/>
                <a:cs typeface="Times New Roman" panose="02020603050405020304" pitchFamily="18" charset="0"/>
                <a:sym typeface="Body Grotesque"/>
              </a:rPr>
              <a:t>1_D Labels:</a:t>
            </a:r>
          </a:p>
          <a:p>
            <a:pPr marL="353510" lvl="1" algn="just">
              <a:lnSpc>
                <a:spcPts val="4584"/>
              </a:lnSpc>
            </a:pPr>
            <a:r>
              <a:rPr lang="en-US" sz="2600" i="1" dirty="0">
                <a:latin typeface="Times New Roman" panose="02020603050405020304" pitchFamily="18" charset="0"/>
                <a:ea typeface="Body Grotesque"/>
                <a:cs typeface="Times New Roman" panose="02020603050405020304" pitchFamily="18" charset="0"/>
                <a:sym typeface="Body Grotesque"/>
              </a:rPr>
              <a:t>0</a:t>
            </a:r>
            <a:r>
              <a:rPr lang="en-US" sz="2600" dirty="0">
                <a:latin typeface="Times New Roman" panose="02020603050405020304" pitchFamily="18" charset="0"/>
                <a:ea typeface="Body Grotesque"/>
                <a:cs typeface="Times New Roman" panose="02020603050405020304" pitchFamily="18" charset="0"/>
                <a:sym typeface="Body Grotesque"/>
              </a:rPr>
              <a:t>: Background    	                1: Lake</a:t>
            </a:r>
          </a:p>
          <a:p>
            <a:pPr marL="353510" lvl="1" algn="just">
              <a:lnSpc>
                <a:spcPts val="4584"/>
              </a:lnSpc>
            </a:pPr>
            <a:r>
              <a:rPr lang="en-US" sz="2600" i="1" dirty="0">
                <a:latin typeface="Times New Roman" panose="02020603050405020304" pitchFamily="18" charset="0"/>
                <a:ea typeface="Body Grotesque"/>
                <a:cs typeface="Times New Roman" panose="02020603050405020304" pitchFamily="18" charset="0"/>
                <a:sym typeface="Body Grotesque"/>
              </a:rPr>
              <a:t>Purchased subscription of </a:t>
            </a:r>
            <a:r>
              <a:rPr lang="en-US" sz="2600" i="1" dirty="0">
                <a:latin typeface="Times New Roman" panose="02020603050405020304" pitchFamily="18" charset="0"/>
                <a:cs typeface="Times New Roman" panose="02020603050405020304" pitchFamily="18" charset="0"/>
              </a:rPr>
              <a:t>IEEE Dataport to get this dataset</a:t>
            </a:r>
            <a:endParaRPr lang="en-US" sz="2600" i="1" dirty="0">
              <a:solidFill>
                <a:srgbClr val="272727"/>
              </a:solidFill>
              <a:latin typeface="Times New Roman" panose="02020603050405020304" pitchFamily="18" charset="0"/>
              <a:ea typeface="Body Grotesque"/>
              <a:cs typeface="Times New Roman" panose="02020603050405020304" pitchFamily="18" charset="0"/>
              <a:sym typeface="Body Grotesque"/>
            </a:endParaRPr>
          </a:p>
        </p:txBody>
      </p:sp>
      <p:sp>
        <p:nvSpPr>
          <p:cNvPr id="17" name="TextBox 16">
            <a:extLst>
              <a:ext uri="{FF2B5EF4-FFF2-40B4-BE49-F238E27FC236}">
                <a16:creationId xmlns:a16="http://schemas.microsoft.com/office/drawing/2014/main" id="{568414A6-6958-BC20-1F46-D162E821D045}"/>
              </a:ext>
            </a:extLst>
          </p:cNvPr>
          <p:cNvSpPr txBox="1"/>
          <p:nvPr/>
        </p:nvSpPr>
        <p:spPr>
          <a:xfrm>
            <a:off x="12671479" y="8894628"/>
            <a:ext cx="5159321" cy="1107996"/>
          </a:xfrm>
          <a:prstGeom prst="rect">
            <a:avLst/>
          </a:prstGeom>
          <a:noFill/>
        </p:spPr>
        <p:txBody>
          <a:bodyPr wrap="square" rtlCol="0">
            <a:spAutoFit/>
          </a:bodyPr>
          <a:lstStyle/>
          <a:p>
            <a:r>
              <a:rPr lang="en-IN" sz="2200" dirty="0"/>
              <a:t>Row 1 shows the Sentinel-2 RGB coloured images of glacial lakes, Row 2 shows their respective ground truth masks. </a:t>
            </a:r>
          </a:p>
        </p:txBody>
      </p:sp>
      <p:sp>
        <p:nvSpPr>
          <p:cNvPr id="19" name="TextBox 18">
            <a:extLst>
              <a:ext uri="{FF2B5EF4-FFF2-40B4-BE49-F238E27FC236}">
                <a16:creationId xmlns:a16="http://schemas.microsoft.com/office/drawing/2014/main" id="{074014E5-5438-26AB-93A0-A7DEDF8C350D}"/>
              </a:ext>
            </a:extLst>
          </p:cNvPr>
          <p:cNvSpPr txBox="1"/>
          <p:nvPr/>
        </p:nvSpPr>
        <p:spPr>
          <a:xfrm>
            <a:off x="12509040" y="2772933"/>
            <a:ext cx="5443820" cy="1446550"/>
          </a:xfrm>
          <a:prstGeom prst="rect">
            <a:avLst/>
          </a:prstGeom>
          <a:noFill/>
        </p:spPr>
        <p:txBody>
          <a:bodyPr wrap="square" rtlCol="0">
            <a:spAutoFit/>
          </a:bodyPr>
          <a:lstStyle/>
          <a:p>
            <a:r>
              <a:rPr lang="en-IN" sz="2200" dirty="0"/>
              <a:t>Random images from the Sentinel-2 dataset displaying lakes of different colours and varying topographical features, including snow-covered mountains and glacial terrain. </a:t>
            </a:r>
          </a:p>
        </p:txBody>
      </p:sp>
      <p:sp>
        <p:nvSpPr>
          <p:cNvPr id="20" name="Footer Placeholder 19">
            <a:extLst>
              <a:ext uri="{FF2B5EF4-FFF2-40B4-BE49-F238E27FC236}">
                <a16:creationId xmlns:a16="http://schemas.microsoft.com/office/drawing/2014/main" id="{711DB622-E48E-B099-932D-7325D5566268}"/>
              </a:ext>
            </a:extLst>
          </p:cNvPr>
          <p:cNvSpPr>
            <a:spLocks noGrp="1"/>
          </p:cNvSpPr>
          <p:nvPr>
            <p:ph type="ftr" sz="quarter" idx="11"/>
          </p:nvPr>
        </p:nvSpPr>
        <p:spPr>
          <a:xfrm>
            <a:off x="5486400" y="9819977"/>
            <a:ext cx="6172200" cy="547688"/>
          </a:xfrm>
        </p:spPr>
        <p:txBody>
          <a:bodyPr/>
          <a:lstStyle/>
          <a:p>
            <a:pPr defTabSz="1371600"/>
            <a:r>
              <a:rPr lang="en-US" sz="2000" b="1" dirty="0">
                <a:solidFill>
                  <a:srgbClr val="002060"/>
                </a:solidFill>
              </a:rPr>
              <a:t>Made By : SHIKHAR SINGH</a:t>
            </a:r>
          </a:p>
        </p:txBody>
      </p:sp>
      <p:pic>
        <p:nvPicPr>
          <p:cNvPr id="26" name="Picture 25">
            <a:extLst>
              <a:ext uri="{FF2B5EF4-FFF2-40B4-BE49-F238E27FC236}">
                <a16:creationId xmlns:a16="http://schemas.microsoft.com/office/drawing/2014/main" id="{07DB5F49-8C51-CC3B-69FA-B955C7DA0B3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120280" y="466407"/>
            <a:ext cx="2177120" cy="2177120"/>
          </a:xfrm>
          <a:prstGeom prst="rect">
            <a:avLst/>
          </a:prstGeom>
          <a:ln>
            <a:solidFill>
              <a:schemeClr val="tx1"/>
            </a:solidFill>
          </a:ln>
        </p:spPr>
      </p:pic>
      <p:pic>
        <p:nvPicPr>
          <p:cNvPr id="28" name="Picture 27">
            <a:extLst>
              <a:ext uri="{FF2B5EF4-FFF2-40B4-BE49-F238E27FC236}">
                <a16:creationId xmlns:a16="http://schemas.microsoft.com/office/drawing/2014/main" id="{82101BEC-C7F8-A15A-4B9E-BFD5CA99798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2564835" y="466407"/>
            <a:ext cx="2177120" cy="2177120"/>
          </a:xfrm>
          <a:prstGeom prst="rect">
            <a:avLst/>
          </a:prstGeom>
          <a:ln>
            <a:solidFill>
              <a:schemeClr val="tx1"/>
            </a:solidFill>
          </a:ln>
        </p:spPr>
      </p:pic>
    </p:spTree>
  </p:cSld>
  <p:clrMapOvr>
    <a:overrideClrMapping bg1="lt1" tx1="dk1" bg2="lt2" tx2="dk2" accent1="accent1" accent2="accent2" accent3="accent3" accent4="accent4" accent5="accent5" accent6="accent6" hlink="hlink" folHlink="folHlink"/>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CD70FDF-34CF-0F10-7564-75ACB7FA773A}"/>
              </a:ext>
            </a:extLst>
          </p:cNvPr>
          <p:cNvSpPr>
            <a:spLocks noGrp="1"/>
          </p:cNvSpPr>
          <p:nvPr>
            <p:ph type="ftr" sz="quarter" idx="11"/>
          </p:nvPr>
        </p:nvSpPr>
        <p:spPr>
          <a:xfrm>
            <a:off x="3505200" y="9534526"/>
            <a:ext cx="10439400" cy="547688"/>
          </a:xfrm>
        </p:spPr>
        <p:txBody>
          <a:bodyPr/>
          <a:lstStyle/>
          <a:p>
            <a:pPr defTabSz="1371600"/>
            <a:r>
              <a:rPr lang="en-US" sz="2000" b="1" dirty="0">
                <a:solidFill>
                  <a:srgbClr val="002060"/>
                </a:solidFill>
              </a:rPr>
              <a:t>Made By : SHIKHAR SINGH</a:t>
            </a:r>
          </a:p>
        </p:txBody>
      </p:sp>
      <p:pic>
        <p:nvPicPr>
          <p:cNvPr id="5" name="Picture 4">
            <a:extLst>
              <a:ext uri="{FF2B5EF4-FFF2-40B4-BE49-F238E27FC236}">
                <a16:creationId xmlns:a16="http://schemas.microsoft.com/office/drawing/2014/main" id="{0D5E5CD5-BD18-381C-E236-9D2FB5C2C7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3200" y="342900"/>
            <a:ext cx="11506200" cy="8907758"/>
          </a:xfrm>
          <a:prstGeom prst="rect">
            <a:avLst/>
          </a:prstGeom>
        </p:spPr>
      </p:pic>
      <p:sp>
        <p:nvSpPr>
          <p:cNvPr id="6" name="TextBox 5">
            <a:extLst>
              <a:ext uri="{FF2B5EF4-FFF2-40B4-BE49-F238E27FC236}">
                <a16:creationId xmlns:a16="http://schemas.microsoft.com/office/drawing/2014/main" id="{AD90C84F-DBD4-AA35-EFC4-23B540617CB9}"/>
              </a:ext>
            </a:extLst>
          </p:cNvPr>
          <p:cNvSpPr txBox="1"/>
          <p:nvPr/>
        </p:nvSpPr>
        <p:spPr>
          <a:xfrm>
            <a:off x="609600" y="876300"/>
            <a:ext cx="5029200" cy="6771084"/>
          </a:xfrm>
          <a:prstGeom prst="rect">
            <a:avLst/>
          </a:prstGeom>
          <a:noFill/>
        </p:spPr>
        <p:txBody>
          <a:bodyPr wrap="square" rtlCol="0">
            <a:spAutoFit/>
          </a:bodyPr>
          <a:lstStyle/>
          <a:p>
            <a:r>
              <a:rPr lang="en-IN" sz="3200" b="1" dirty="0">
                <a:latin typeface="Amasis MT Pro Black" panose="02040A04050005020304" pitchFamily="18" charset="0"/>
              </a:rPr>
              <a:t>STUDY REGION</a:t>
            </a:r>
          </a:p>
          <a:p>
            <a:endParaRPr lang="en-IN" sz="3200" dirty="0"/>
          </a:p>
          <a:p>
            <a:r>
              <a:rPr lang="en-IN" sz="3200" dirty="0">
                <a:latin typeface="Aptos Narrow" panose="020B0004020202020204" pitchFamily="34" charset="0"/>
              </a:rPr>
              <a:t>The provided glacial lake map , delineates the area of study for our research. The map depicts both existing and projected glacial lakes situated in the High Mountain Asia region. The layout image has been published in paper called the Glacial Lake Evolution in High Mountain Asia</a:t>
            </a:r>
            <a:r>
              <a:rPr lang="en-IN" sz="3200" dirty="0"/>
              <a:t>.</a:t>
            </a:r>
          </a:p>
          <a:p>
            <a:endParaRPr lang="en-IN" dirty="0"/>
          </a:p>
        </p:txBody>
      </p:sp>
    </p:spTree>
    <p:extLst>
      <p:ext uri="{BB962C8B-B14F-4D97-AF65-F5344CB8AC3E}">
        <p14:creationId xmlns:p14="http://schemas.microsoft.com/office/powerpoint/2010/main" val="3439987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8BC3D29-435F-2F83-5478-514B5667D1CA}"/>
              </a:ext>
            </a:extLst>
          </p:cNvPr>
          <p:cNvSpPr txBox="1"/>
          <p:nvPr/>
        </p:nvSpPr>
        <p:spPr>
          <a:xfrm>
            <a:off x="-16329" y="-171629"/>
            <a:ext cx="12649200" cy="1200329"/>
          </a:xfrm>
          <a:prstGeom prst="rect">
            <a:avLst/>
          </a:prstGeom>
          <a:noFill/>
        </p:spPr>
        <p:txBody>
          <a:bodyPr wrap="square" rtlCol="0">
            <a:spAutoFit/>
          </a:bodyPr>
          <a:lstStyle/>
          <a:p>
            <a:r>
              <a:rPr lang="en-US" sz="7200" b="1" dirty="0">
                <a:latin typeface="Times New Roman" panose="02020603050405020304" pitchFamily="18" charset="0"/>
                <a:cs typeface="Times New Roman" panose="02020603050405020304" pitchFamily="18" charset="0"/>
              </a:rPr>
              <a:t>LITERATURE</a:t>
            </a:r>
            <a:r>
              <a:rPr lang="en-US" sz="7200" b="1" dirty="0"/>
              <a:t> REVIEW </a:t>
            </a:r>
            <a:endParaRPr lang="en-IN" sz="7200" b="1" dirty="0"/>
          </a:p>
        </p:txBody>
      </p:sp>
      <p:graphicFrame>
        <p:nvGraphicFramePr>
          <p:cNvPr id="3" name="Table 2">
            <a:extLst>
              <a:ext uri="{FF2B5EF4-FFF2-40B4-BE49-F238E27FC236}">
                <a16:creationId xmlns:a16="http://schemas.microsoft.com/office/drawing/2014/main" id="{B2BE7D72-F5F4-388A-63CA-61DEBA9C4836}"/>
              </a:ext>
            </a:extLst>
          </p:cNvPr>
          <p:cNvGraphicFramePr>
            <a:graphicFrameLocks noGrp="1"/>
          </p:cNvGraphicFramePr>
          <p:nvPr>
            <p:extLst>
              <p:ext uri="{D42A27DB-BD31-4B8C-83A1-F6EECF244321}">
                <p14:modId xmlns:p14="http://schemas.microsoft.com/office/powerpoint/2010/main" val="2794859940"/>
              </p:ext>
            </p:extLst>
          </p:nvPr>
        </p:nvGraphicFramePr>
        <p:xfrm>
          <a:off x="1" y="1028701"/>
          <a:ext cx="18287997" cy="9297640"/>
        </p:xfrm>
        <a:graphic>
          <a:graphicData uri="http://schemas.openxmlformats.org/drawingml/2006/table">
            <a:tbl>
              <a:tblPr firstRow="1" firstCol="1" bandRow="1"/>
              <a:tblGrid>
                <a:gridCol w="2798077">
                  <a:extLst>
                    <a:ext uri="{9D8B030D-6E8A-4147-A177-3AD203B41FA5}">
                      <a16:colId xmlns:a16="http://schemas.microsoft.com/office/drawing/2014/main" val="3119281259"/>
                    </a:ext>
                  </a:extLst>
                </a:gridCol>
                <a:gridCol w="3097984">
                  <a:extLst>
                    <a:ext uri="{9D8B030D-6E8A-4147-A177-3AD203B41FA5}">
                      <a16:colId xmlns:a16="http://schemas.microsoft.com/office/drawing/2014/main" val="4112743275"/>
                    </a:ext>
                  </a:extLst>
                </a:gridCol>
                <a:gridCol w="3097984">
                  <a:extLst>
                    <a:ext uri="{9D8B030D-6E8A-4147-A177-3AD203B41FA5}">
                      <a16:colId xmlns:a16="http://schemas.microsoft.com/office/drawing/2014/main" val="3605377900"/>
                    </a:ext>
                  </a:extLst>
                </a:gridCol>
                <a:gridCol w="3097984">
                  <a:extLst>
                    <a:ext uri="{9D8B030D-6E8A-4147-A177-3AD203B41FA5}">
                      <a16:colId xmlns:a16="http://schemas.microsoft.com/office/drawing/2014/main" val="1159299064"/>
                    </a:ext>
                  </a:extLst>
                </a:gridCol>
                <a:gridCol w="3097984">
                  <a:extLst>
                    <a:ext uri="{9D8B030D-6E8A-4147-A177-3AD203B41FA5}">
                      <a16:colId xmlns:a16="http://schemas.microsoft.com/office/drawing/2014/main" val="3798078751"/>
                    </a:ext>
                  </a:extLst>
                </a:gridCol>
                <a:gridCol w="3097984">
                  <a:extLst>
                    <a:ext uri="{9D8B030D-6E8A-4147-A177-3AD203B41FA5}">
                      <a16:colId xmlns:a16="http://schemas.microsoft.com/office/drawing/2014/main" val="3402866698"/>
                    </a:ext>
                  </a:extLst>
                </a:gridCol>
              </a:tblGrid>
              <a:tr h="1071971">
                <a:tc>
                  <a:txBody>
                    <a:bodyPr/>
                    <a:lstStyle/>
                    <a:p>
                      <a:pPr marL="0" marR="0" algn="just">
                        <a:lnSpc>
                          <a:spcPct val="115000"/>
                        </a:lnSpc>
                        <a:spcAft>
                          <a:spcPts val="800"/>
                        </a:spcAft>
                        <a:buNone/>
                      </a:pPr>
                      <a:r>
                        <a:rPr lang="en-IN" sz="2400" b="1" kern="0" dirty="0">
                          <a:solidFill>
                            <a:srgbClr val="FFFFFF"/>
                          </a:solidFill>
                          <a:effectLst/>
                          <a:latin typeface="Times New Roman" panose="02020603050405020304" pitchFamily="18" charset="0"/>
                          <a:ea typeface="Times New Roman" panose="02020603050405020304" pitchFamily="18" charset="0"/>
                          <a:cs typeface="Mangal" panose="02040503050203030202" pitchFamily="18" charset="0"/>
                        </a:rPr>
                        <a:t>Method Category (From Literature)</a:t>
                      </a:r>
                      <a:endParaRPr lang="en-IN" sz="2400" kern="100" dirty="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marL="0" marR="0" algn="just">
                        <a:lnSpc>
                          <a:spcPct val="115000"/>
                        </a:lnSpc>
                        <a:spcAft>
                          <a:spcPts val="800"/>
                        </a:spcAft>
                        <a:buNone/>
                      </a:pPr>
                      <a:r>
                        <a:rPr lang="en-IN" sz="2400" b="1" kern="0" dirty="0">
                          <a:solidFill>
                            <a:srgbClr val="FFFFFF"/>
                          </a:solidFill>
                          <a:effectLst/>
                          <a:latin typeface="Times New Roman" panose="02020603050405020304" pitchFamily="18" charset="0"/>
                          <a:ea typeface="Times New Roman" panose="02020603050405020304" pitchFamily="18" charset="0"/>
                          <a:cs typeface="Mangal" panose="02040503050203030202" pitchFamily="18" charset="0"/>
                        </a:rPr>
                        <a:t>Representative Paper(s)</a:t>
                      </a:r>
                      <a:endParaRPr lang="en-IN" sz="2400" kern="100" dirty="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marL="0" marR="0" algn="just">
                        <a:lnSpc>
                          <a:spcPct val="115000"/>
                        </a:lnSpc>
                        <a:spcAft>
                          <a:spcPts val="800"/>
                        </a:spcAft>
                        <a:buNone/>
                      </a:pPr>
                      <a:r>
                        <a:rPr lang="en-IN" sz="2400" b="1" kern="0">
                          <a:solidFill>
                            <a:srgbClr val="FFFFFF"/>
                          </a:solidFill>
                          <a:effectLst/>
                          <a:latin typeface="Times New Roman" panose="02020603050405020304" pitchFamily="18" charset="0"/>
                          <a:ea typeface="Times New Roman" panose="02020603050405020304" pitchFamily="18" charset="0"/>
                          <a:cs typeface="Mangal" panose="02040503050203030202" pitchFamily="18" charset="0"/>
                        </a:rPr>
                        <a:t>Architecture / Approach</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marL="0" marR="0" algn="just">
                        <a:lnSpc>
                          <a:spcPct val="115000"/>
                        </a:lnSpc>
                        <a:spcAft>
                          <a:spcPts val="800"/>
                        </a:spcAft>
                        <a:buNone/>
                      </a:pPr>
                      <a:r>
                        <a:rPr lang="en-IN" sz="2400" b="1" kern="0">
                          <a:solidFill>
                            <a:srgbClr val="FFFFFF"/>
                          </a:solidFill>
                          <a:effectLst/>
                          <a:latin typeface="Times New Roman" panose="02020603050405020304" pitchFamily="18" charset="0"/>
                          <a:ea typeface="Times New Roman" panose="02020603050405020304" pitchFamily="18" charset="0"/>
                          <a:cs typeface="Mangal" panose="02040503050203030202" pitchFamily="18" charset="0"/>
                        </a:rPr>
                        <a:t>Reported/Typical Outcome in Literature</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marL="0" marR="0" algn="just">
                        <a:lnSpc>
                          <a:spcPct val="115000"/>
                        </a:lnSpc>
                        <a:spcAft>
                          <a:spcPts val="800"/>
                        </a:spcAft>
                        <a:buNone/>
                      </a:pPr>
                      <a:r>
                        <a:rPr lang="en-IN" sz="2400" b="1" kern="0" dirty="0">
                          <a:solidFill>
                            <a:srgbClr val="FFFFFF"/>
                          </a:solidFill>
                          <a:effectLst/>
                          <a:latin typeface="Times New Roman" panose="02020603050405020304" pitchFamily="18" charset="0"/>
                          <a:ea typeface="Times New Roman" panose="02020603050405020304" pitchFamily="18" charset="0"/>
                          <a:cs typeface="Mangal" panose="02040503050203030202" pitchFamily="18" charset="0"/>
                        </a:rPr>
                        <a:t>Performance in This Work (IoU %)</a:t>
                      </a:r>
                      <a:endParaRPr lang="en-IN" sz="2400" kern="100" dirty="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marL="0" marR="0" algn="just">
                        <a:lnSpc>
                          <a:spcPct val="115000"/>
                        </a:lnSpc>
                        <a:spcAft>
                          <a:spcPts val="800"/>
                        </a:spcAft>
                        <a:buNone/>
                      </a:pPr>
                      <a:r>
                        <a:rPr lang="en-IN" sz="2400" b="1" kern="0">
                          <a:solidFill>
                            <a:srgbClr val="FFFFFF"/>
                          </a:solidFill>
                          <a:effectLst/>
                          <a:latin typeface="Times New Roman" panose="02020603050405020304" pitchFamily="18" charset="0"/>
                          <a:ea typeface="Times New Roman" panose="02020603050405020304" pitchFamily="18" charset="0"/>
                          <a:cs typeface="Mangal" panose="02040503050203030202" pitchFamily="18" charset="0"/>
                        </a:rPr>
                        <a:t>Improvement of Proposed Method</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extLst>
                  <a:ext uri="{0D108BD9-81ED-4DB2-BD59-A6C34878D82A}">
                    <a16:rowId xmlns:a16="http://schemas.microsoft.com/office/drawing/2014/main" val="1989051212"/>
                  </a:ext>
                </a:extLst>
              </a:tr>
              <a:tr h="1616547">
                <a:tc>
                  <a:txBody>
                    <a:bodyPr/>
                    <a:lstStyle/>
                    <a:p>
                      <a:pPr marL="0" marR="0" algn="just">
                        <a:lnSpc>
                          <a:spcPct val="115000"/>
                        </a:lnSpc>
                        <a:spcAft>
                          <a:spcPts val="800"/>
                        </a:spcAft>
                        <a:buNone/>
                      </a:pPr>
                      <a:r>
                        <a:rPr lang="en-IN" sz="2400" b="1" kern="0" dirty="0">
                          <a:solidFill>
                            <a:srgbClr val="FFFFFF"/>
                          </a:solidFill>
                          <a:effectLst/>
                          <a:latin typeface="Times New Roman" panose="02020603050405020304" pitchFamily="18" charset="0"/>
                          <a:ea typeface="Times New Roman" panose="02020603050405020304" pitchFamily="18" charset="0"/>
                          <a:cs typeface="Mangal" panose="02040503050203030202" pitchFamily="18" charset="0"/>
                        </a:rPr>
                        <a:t>Traditional U-Net baseline</a:t>
                      </a:r>
                      <a:endParaRPr lang="en-IN" sz="2400" kern="100" dirty="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marL="0" marR="0" algn="just">
                        <a:lnSpc>
                          <a:spcPct val="115000"/>
                        </a:lnSpc>
                        <a:spcAft>
                          <a:spcPts val="800"/>
                        </a:spcAft>
                        <a:buNone/>
                      </a:pPr>
                      <a:r>
                        <a:rPr lang="en-IN" sz="2400" kern="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Su et al. (2019) [4]</a:t>
                      </a:r>
                      <a:endParaRPr lang="en-IN" sz="2400" kern="100" dirty="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CAAC"/>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Encoder–decoder without advanced context modules</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CAAC"/>
                    </a:solidFill>
                  </a:tcPr>
                </a:tc>
                <a:tc>
                  <a:txBody>
                    <a:bodyPr/>
                    <a:lstStyle/>
                    <a:p>
                      <a:pPr marL="0" marR="0" algn="just">
                        <a:lnSpc>
                          <a:spcPct val="115000"/>
                        </a:lnSpc>
                        <a:spcAft>
                          <a:spcPts val="800"/>
                        </a:spcAft>
                        <a:buNone/>
                      </a:pPr>
                      <a:r>
                        <a:rPr lang="en-IN" sz="2400" kern="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65–72% IoU commonly reported for high-resolution RS segmentation</a:t>
                      </a:r>
                      <a:endParaRPr lang="en-IN" sz="2400" kern="100" dirty="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CAAC"/>
                    </a:solidFill>
                  </a:tcPr>
                </a:tc>
                <a:tc>
                  <a:txBody>
                    <a:bodyPr/>
                    <a:lstStyle/>
                    <a:p>
                      <a:pPr marL="0" marR="0" algn="just">
                        <a:lnSpc>
                          <a:spcPct val="115000"/>
                        </a:lnSpc>
                        <a:spcAft>
                          <a:spcPts val="800"/>
                        </a:spcAft>
                        <a:buNone/>
                      </a:pPr>
                      <a:r>
                        <a:rPr lang="en-IN" sz="2400" b="1"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73.30%</a:t>
                      </a: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(U-Net vanilla)</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CAAC"/>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+1.3–8.3% over literature baseline</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CAAC"/>
                    </a:solidFill>
                  </a:tcPr>
                </a:tc>
                <a:extLst>
                  <a:ext uri="{0D108BD9-81ED-4DB2-BD59-A6C34878D82A}">
                    <a16:rowId xmlns:a16="http://schemas.microsoft.com/office/drawing/2014/main" val="1637101750"/>
                  </a:ext>
                </a:extLst>
              </a:tr>
              <a:tr h="1344260">
                <a:tc>
                  <a:txBody>
                    <a:bodyPr/>
                    <a:lstStyle/>
                    <a:p>
                      <a:pPr marL="0" marR="0" algn="just">
                        <a:lnSpc>
                          <a:spcPct val="115000"/>
                        </a:lnSpc>
                        <a:spcAft>
                          <a:spcPts val="800"/>
                        </a:spcAft>
                        <a:buNone/>
                      </a:pPr>
                      <a:r>
                        <a:rPr lang="en-IN" sz="2400" b="1" kern="0">
                          <a:solidFill>
                            <a:srgbClr val="FFFFFF"/>
                          </a:solidFill>
                          <a:effectLst/>
                          <a:latin typeface="Times New Roman" panose="02020603050405020304" pitchFamily="18" charset="0"/>
                          <a:ea typeface="Times New Roman" panose="02020603050405020304" pitchFamily="18" charset="0"/>
                          <a:cs typeface="Mangal" panose="02040503050203030202" pitchFamily="18" charset="0"/>
                        </a:rPr>
                        <a:t>U-Net with pretrained backbones</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marL="0" marR="0" algn="just">
                        <a:lnSpc>
                          <a:spcPct val="115000"/>
                        </a:lnSpc>
                        <a:spcAft>
                          <a:spcPts val="800"/>
                        </a:spcAft>
                        <a:buNone/>
                      </a:pPr>
                      <a:r>
                        <a:rPr lang="en-IN" sz="2400" kern="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Kaushik et al. (2022) [6]</a:t>
                      </a:r>
                      <a:endParaRPr lang="en-IN" sz="2400" kern="100" dirty="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D5"/>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U-Net + CNN backbone</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D5"/>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Performance improves but sensitive to domain shift; moderate gains</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D5"/>
                    </a:solidFill>
                  </a:tcPr>
                </a:tc>
                <a:tc>
                  <a:txBody>
                    <a:bodyPr/>
                    <a:lstStyle/>
                    <a:p>
                      <a:pPr marL="0" marR="0" algn="just">
                        <a:lnSpc>
                          <a:spcPct val="115000"/>
                        </a:lnSpc>
                        <a:spcAft>
                          <a:spcPts val="800"/>
                        </a:spcAft>
                        <a:buNone/>
                      </a:pPr>
                      <a:r>
                        <a:rPr lang="en-IN" sz="2400" b="1"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58.60%</a:t>
                      </a: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(U-Net+ResNet50)</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D5"/>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(our dataset shows domain mismatch)</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D5"/>
                    </a:solidFill>
                  </a:tcPr>
                </a:tc>
                <a:extLst>
                  <a:ext uri="{0D108BD9-81ED-4DB2-BD59-A6C34878D82A}">
                    <a16:rowId xmlns:a16="http://schemas.microsoft.com/office/drawing/2014/main" val="4206212348"/>
                  </a:ext>
                </a:extLst>
              </a:tr>
              <a:tr h="1344260">
                <a:tc>
                  <a:txBody>
                    <a:bodyPr/>
                    <a:lstStyle/>
                    <a:p>
                      <a:pPr marL="0" marR="0" algn="just">
                        <a:lnSpc>
                          <a:spcPct val="115000"/>
                        </a:lnSpc>
                        <a:spcAft>
                          <a:spcPts val="800"/>
                        </a:spcAft>
                        <a:buNone/>
                      </a:pPr>
                      <a:r>
                        <a:rPr lang="en-IN" sz="2400" b="1" kern="0">
                          <a:solidFill>
                            <a:srgbClr val="FFFFFF"/>
                          </a:solidFill>
                          <a:effectLst/>
                          <a:latin typeface="Times New Roman" panose="02020603050405020304" pitchFamily="18" charset="0"/>
                          <a:ea typeface="Times New Roman" panose="02020603050405020304" pitchFamily="18" charset="0"/>
                          <a:cs typeface="Mangal" panose="02040503050203030202" pitchFamily="18" charset="0"/>
                        </a:rPr>
                        <a:t>EfficientNet-based segmentation</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marL="0" marR="0" algn="just">
                        <a:lnSpc>
                          <a:spcPct val="115000"/>
                        </a:lnSpc>
                        <a:spcAft>
                          <a:spcPts val="800"/>
                        </a:spcAft>
                        <a:buNone/>
                      </a:pPr>
                      <a:r>
                        <a:rPr lang="en-IN" sz="2400" kern="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Tan &amp; Le (2019) [9]</a:t>
                      </a:r>
                      <a:endParaRPr lang="en-IN" sz="2400" kern="100" dirty="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CAAC"/>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Scaled backbone improves efficiency</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CAAC"/>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Reported success in natural images; mixed RS performance</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CAAC"/>
                    </a:solidFill>
                  </a:tcPr>
                </a:tc>
                <a:tc>
                  <a:txBody>
                    <a:bodyPr/>
                    <a:lstStyle/>
                    <a:p>
                      <a:pPr marL="0" marR="0" algn="just">
                        <a:lnSpc>
                          <a:spcPct val="115000"/>
                        </a:lnSpc>
                        <a:spcAft>
                          <a:spcPts val="800"/>
                        </a:spcAft>
                        <a:buNone/>
                      </a:pPr>
                      <a:r>
                        <a:rPr lang="en-IN" sz="2400" b="1"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40.71%</a:t>
                      </a: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(U-Net+EffB0)</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CAAC"/>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(underperforms for our task)</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CAAC"/>
                    </a:solidFill>
                  </a:tcPr>
                </a:tc>
                <a:extLst>
                  <a:ext uri="{0D108BD9-81ED-4DB2-BD59-A6C34878D82A}">
                    <a16:rowId xmlns:a16="http://schemas.microsoft.com/office/drawing/2014/main" val="1097846587"/>
                  </a:ext>
                </a:extLst>
              </a:tr>
              <a:tr h="1344260">
                <a:tc>
                  <a:txBody>
                    <a:bodyPr/>
                    <a:lstStyle/>
                    <a:p>
                      <a:pPr marL="0" marR="0" algn="just">
                        <a:lnSpc>
                          <a:spcPct val="115000"/>
                        </a:lnSpc>
                        <a:spcAft>
                          <a:spcPts val="800"/>
                        </a:spcAft>
                        <a:buNone/>
                      </a:pPr>
                      <a:r>
                        <a:rPr lang="en-IN" sz="2400" b="1" kern="0">
                          <a:solidFill>
                            <a:srgbClr val="FFFFFF"/>
                          </a:solidFill>
                          <a:effectLst/>
                          <a:latin typeface="Times New Roman" panose="02020603050405020304" pitchFamily="18" charset="0"/>
                          <a:ea typeface="Times New Roman" panose="02020603050405020304" pitchFamily="18" charset="0"/>
                          <a:cs typeface="Mangal" panose="02040503050203030202" pitchFamily="18" charset="0"/>
                        </a:rPr>
                        <a:t>DeepLab family with ASPP</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Hu et al. (2021) [7]</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D5"/>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DeepLabV3+ with multi-scale context (ASPP)</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D5"/>
                    </a:solidFill>
                  </a:tcPr>
                </a:tc>
                <a:tc>
                  <a:txBody>
                    <a:bodyPr/>
                    <a:lstStyle/>
                    <a:p>
                      <a:pPr marL="0" marR="0" algn="just">
                        <a:lnSpc>
                          <a:spcPct val="115000"/>
                        </a:lnSpc>
                        <a:spcAft>
                          <a:spcPts val="800"/>
                        </a:spcAft>
                        <a:buNone/>
                      </a:pPr>
                      <a:r>
                        <a:rPr lang="en-IN" sz="2400" kern="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Typically, 70–80% IoU in complex RS scenes</a:t>
                      </a:r>
                      <a:endParaRPr lang="en-IN" sz="2400" kern="100" dirty="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D5"/>
                    </a:solidFill>
                  </a:tcPr>
                </a:tc>
                <a:tc>
                  <a:txBody>
                    <a:bodyPr/>
                    <a:lstStyle/>
                    <a:p>
                      <a:pPr marL="0" marR="0" algn="just">
                        <a:lnSpc>
                          <a:spcPct val="115000"/>
                        </a:lnSpc>
                        <a:spcAft>
                          <a:spcPts val="800"/>
                        </a:spcAft>
                        <a:buNone/>
                      </a:pPr>
                      <a:r>
                        <a:rPr lang="en-IN" sz="2400" b="1"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66.09%</a:t>
                      </a: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(CE) → </a:t>
                      </a:r>
                      <a:r>
                        <a:rPr lang="en-IN" sz="2400" b="1"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74.69% (Dice)</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D5"/>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Matches upper bound of literature; +8.6% (Dice vs CE)</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D5"/>
                    </a:solidFill>
                  </a:tcPr>
                </a:tc>
                <a:extLst>
                  <a:ext uri="{0D108BD9-81ED-4DB2-BD59-A6C34878D82A}">
                    <a16:rowId xmlns:a16="http://schemas.microsoft.com/office/drawing/2014/main" val="3921759369"/>
                  </a:ext>
                </a:extLst>
              </a:tr>
              <a:tr h="1465028">
                <a:tc>
                  <a:txBody>
                    <a:bodyPr/>
                    <a:lstStyle/>
                    <a:p>
                      <a:pPr marL="0" marR="0" algn="just">
                        <a:lnSpc>
                          <a:spcPct val="115000"/>
                        </a:lnSpc>
                        <a:spcAft>
                          <a:spcPts val="800"/>
                        </a:spcAft>
                        <a:buNone/>
                      </a:pPr>
                      <a:r>
                        <a:rPr lang="en-IN" sz="2400" b="1" kern="0">
                          <a:solidFill>
                            <a:srgbClr val="FFFFFF"/>
                          </a:solidFill>
                          <a:effectLst/>
                          <a:latin typeface="Times New Roman" panose="02020603050405020304" pitchFamily="18" charset="0"/>
                          <a:ea typeface="Times New Roman" panose="02020603050405020304" pitchFamily="18" charset="0"/>
                          <a:cs typeface="Mangal" panose="02040503050203030202" pitchFamily="18" charset="0"/>
                        </a:rPr>
                        <a:t>Boundary / overlap-aware losses</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Cheng et al. (2021) [8]</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CAAC"/>
                    </a:solidFill>
                  </a:tcPr>
                </a:tc>
                <a:tc>
                  <a:txBody>
                    <a:bodyPr/>
                    <a:lstStyle/>
                    <a:p>
                      <a:pPr marL="0" marR="0" algn="just">
                        <a:lnSpc>
                          <a:spcPct val="115000"/>
                        </a:lnSpc>
                        <a:spcAft>
                          <a:spcPts val="800"/>
                        </a:spcAft>
                        <a:buNone/>
                      </a:pPr>
                      <a:r>
                        <a:rPr lang="en-IN" sz="2400" kern="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Boundary IoU, Dice to improve small-object segmentation</a:t>
                      </a:r>
                      <a:endParaRPr lang="en-IN" sz="2400" kern="100" dirty="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CAAC"/>
                    </a:solidFill>
                  </a:tcPr>
                </a:tc>
                <a:tc>
                  <a:txBody>
                    <a:bodyPr/>
                    <a:lstStyle/>
                    <a:p>
                      <a:pPr marL="0" marR="0" algn="just">
                        <a:lnSpc>
                          <a:spcPct val="115000"/>
                        </a:lnSpc>
                        <a:spcAft>
                          <a:spcPts val="800"/>
                        </a:spcAft>
                        <a:buNone/>
                      </a:pPr>
                      <a:r>
                        <a:rPr lang="en-IN" sz="2400" kern="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Reported 4–6% IoU gain over CE</a:t>
                      </a:r>
                      <a:endParaRPr lang="en-IN" sz="2400" kern="100" dirty="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CAAC"/>
                    </a:solidFill>
                  </a:tcPr>
                </a:tc>
                <a:tc>
                  <a:txBody>
                    <a:bodyPr/>
                    <a:lstStyle/>
                    <a:p>
                      <a:pPr marL="0" marR="0" algn="just">
                        <a:lnSpc>
                          <a:spcPct val="115000"/>
                        </a:lnSpc>
                        <a:spcAft>
                          <a:spcPts val="800"/>
                        </a:spcAft>
                        <a:buNone/>
                      </a:pPr>
                      <a:r>
                        <a:rPr lang="en-IN" sz="2400" b="1"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66.09% → 74.69%</a:t>
                      </a: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with Dice</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CAAC"/>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+8.6% gain (exceeds typical improvement)</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CAAC"/>
                    </a:solidFill>
                  </a:tcPr>
                </a:tc>
                <a:extLst>
                  <a:ext uri="{0D108BD9-81ED-4DB2-BD59-A6C34878D82A}">
                    <a16:rowId xmlns:a16="http://schemas.microsoft.com/office/drawing/2014/main" val="1049953956"/>
                  </a:ext>
                </a:extLst>
              </a:tr>
              <a:tr h="1071971">
                <a:tc>
                  <a:txBody>
                    <a:bodyPr/>
                    <a:lstStyle/>
                    <a:p>
                      <a:pPr marL="0" marR="0" algn="just">
                        <a:lnSpc>
                          <a:spcPct val="115000"/>
                        </a:lnSpc>
                        <a:spcAft>
                          <a:spcPts val="800"/>
                        </a:spcAft>
                        <a:buNone/>
                      </a:pPr>
                      <a:r>
                        <a:rPr lang="en-IN" sz="2400" b="1" kern="0">
                          <a:solidFill>
                            <a:srgbClr val="FFFFFF"/>
                          </a:solidFill>
                          <a:effectLst/>
                          <a:latin typeface="Times New Roman" panose="02020603050405020304" pitchFamily="18" charset="0"/>
                          <a:ea typeface="Times New Roman" panose="02020603050405020304" pitchFamily="18" charset="0"/>
                          <a:cs typeface="Mangal" panose="02040503050203030202" pitchFamily="18" charset="0"/>
                        </a:rPr>
                        <a:t>Historically guided segmentation</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Ortiz et al. 2022 [16]</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D5"/>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Temporal priors used for glacial lakes</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D5"/>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High stability but requires time-series</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D5"/>
                    </a:solidFill>
                  </a:tcPr>
                </a:tc>
                <a:tc>
                  <a:txBody>
                    <a:bodyPr/>
                    <a:lstStyle/>
                    <a:p>
                      <a:pPr marL="0" marR="0" algn="just">
                        <a:lnSpc>
                          <a:spcPct val="115000"/>
                        </a:lnSpc>
                        <a:spcAft>
                          <a:spcPts val="800"/>
                        </a:spcAft>
                        <a:buNone/>
                      </a:pPr>
                      <a:r>
                        <a:rPr lang="en-IN" sz="2400" kern="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Not implemented in this work</a:t>
                      </a:r>
                      <a:endParaRPr lang="en-IN" sz="2400" kern="10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D5"/>
                    </a:solidFill>
                  </a:tcPr>
                </a:tc>
                <a:tc>
                  <a:txBody>
                    <a:bodyPr/>
                    <a:lstStyle/>
                    <a:p>
                      <a:pPr marL="0" marR="0" algn="just">
                        <a:lnSpc>
                          <a:spcPct val="115000"/>
                        </a:lnSpc>
                        <a:spcAft>
                          <a:spcPts val="800"/>
                        </a:spcAft>
                        <a:buNone/>
                      </a:pPr>
                      <a:r>
                        <a:rPr lang="en-IN" sz="2400" kern="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a:t>
                      </a:r>
                      <a:endParaRPr lang="en-IN" sz="2400" kern="100" dirty="0">
                        <a:effectLst/>
                        <a:latin typeface="Calibri" panose="020F0502020204030204" pitchFamily="34" charset="0"/>
                        <a:ea typeface="Calibri" panose="020F0502020204030204" pitchFamily="34" charset="0"/>
                        <a:cs typeface="Mangal" panose="02040503050203030202" pitchFamily="18" charset="0"/>
                      </a:endParaRPr>
                    </a:p>
                  </a:txBody>
                  <a:tcPr marL="62603" marR="62603"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D5"/>
                    </a:solidFill>
                  </a:tcPr>
                </a:tc>
                <a:extLst>
                  <a:ext uri="{0D108BD9-81ED-4DB2-BD59-A6C34878D82A}">
                    <a16:rowId xmlns:a16="http://schemas.microsoft.com/office/drawing/2014/main" val="552753561"/>
                  </a:ext>
                </a:extLst>
              </a:tr>
            </a:tbl>
          </a:graphicData>
        </a:graphic>
      </p:graphicFrame>
    </p:spTree>
    <p:extLst>
      <p:ext uri="{BB962C8B-B14F-4D97-AF65-F5344CB8AC3E}">
        <p14:creationId xmlns:p14="http://schemas.microsoft.com/office/powerpoint/2010/main" val="1367546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3F3F4D9-8AA5-BBE7-B59E-8C1B23821198}"/>
              </a:ext>
            </a:extLst>
          </p:cNvPr>
          <p:cNvSpPr>
            <a:spLocks noGrp="1"/>
          </p:cNvSpPr>
          <p:nvPr>
            <p:ph type="ftr" sz="quarter" idx="11"/>
          </p:nvPr>
        </p:nvSpPr>
        <p:spPr/>
        <p:txBody>
          <a:bodyPr/>
          <a:lstStyle/>
          <a:p>
            <a:pPr defTabSz="1371600"/>
            <a:r>
              <a:rPr lang="en-US" sz="2000" b="1" dirty="0">
                <a:solidFill>
                  <a:srgbClr val="002060"/>
                </a:solidFill>
              </a:rPr>
              <a:t>Made By : SHIKHAR SINGH</a:t>
            </a:r>
          </a:p>
        </p:txBody>
      </p:sp>
      <p:sp>
        <p:nvSpPr>
          <p:cNvPr id="5" name="TextBox 4">
            <a:extLst>
              <a:ext uri="{FF2B5EF4-FFF2-40B4-BE49-F238E27FC236}">
                <a16:creationId xmlns:a16="http://schemas.microsoft.com/office/drawing/2014/main" id="{1F4A8306-DDFB-6096-E939-CCE3C28C0409}"/>
              </a:ext>
            </a:extLst>
          </p:cNvPr>
          <p:cNvSpPr txBox="1"/>
          <p:nvPr/>
        </p:nvSpPr>
        <p:spPr>
          <a:xfrm>
            <a:off x="228600" y="165326"/>
            <a:ext cx="17526000" cy="9045425"/>
          </a:xfrm>
          <a:prstGeom prst="rect">
            <a:avLst/>
          </a:prstGeom>
          <a:noFill/>
        </p:spPr>
        <p:txBody>
          <a:bodyPr wrap="square">
            <a:spAutoFit/>
          </a:bodyPr>
          <a:lstStyle/>
          <a:p>
            <a:pPr marL="0" marR="0" algn="just">
              <a:lnSpc>
                <a:spcPct val="115000"/>
              </a:lnSpc>
              <a:spcAft>
                <a:spcPts val="800"/>
              </a:spcAft>
              <a:buNone/>
            </a:pPr>
            <a:r>
              <a:rPr lang="en-IN" sz="4800" b="1" kern="100" dirty="0">
                <a:effectLst/>
                <a:latin typeface="Calibri" panose="020F0502020204030204" pitchFamily="34" charset="0"/>
                <a:ea typeface="Calibri" panose="020F0502020204030204" pitchFamily="34" charset="0"/>
                <a:cs typeface="Mangal" panose="02040503050203030202" pitchFamily="18" charset="0"/>
              </a:rPr>
              <a:t>How Your Approach Outperforms Literature Techniques</a:t>
            </a:r>
          </a:p>
          <a:p>
            <a:pPr marL="0" marR="0" algn="just">
              <a:lnSpc>
                <a:spcPct val="115000"/>
              </a:lnSpc>
              <a:spcAft>
                <a:spcPts val="800"/>
              </a:spcAft>
              <a:buNone/>
            </a:pPr>
            <a:endParaRPr lang="en-IN" sz="9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15000"/>
              </a:lnSpc>
              <a:spcAft>
                <a:spcPts val="800"/>
              </a:spcAft>
              <a:buFont typeface="+mj-lt"/>
              <a:buAutoNum type="arabicPeriod"/>
              <a:tabLst>
                <a:tab pos="457200" algn="l"/>
              </a:tabLst>
            </a:pPr>
            <a:r>
              <a:rPr lang="en-IN" sz="3200" b="1" kern="100" dirty="0">
                <a:latin typeface="Calibri" panose="020F0502020204030204" pitchFamily="34" charset="0"/>
                <a:ea typeface="Calibri" panose="020F0502020204030204" pitchFamily="34" charset="0"/>
                <a:cs typeface="Mangal" panose="02040503050203030202" pitchFamily="18" charset="0"/>
              </a:rPr>
              <a:t>O</a:t>
            </a:r>
            <a:r>
              <a:rPr lang="en-IN" sz="3200" b="1" kern="100" dirty="0">
                <a:effectLst/>
                <a:latin typeface="Calibri" panose="020F0502020204030204" pitchFamily="34" charset="0"/>
                <a:ea typeface="Calibri" panose="020F0502020204030204" pitchFamily="34" charset="0"/>
                <a:cs typeface="Mangal" panose="02040503050203030202" pitchFamily="18" charset="0"/>
              </a:rPr>
              <a:t>ur DeepLabV3+ + ResNet50 + Dice Loss achieves IoU = 74.69%, which falls in the </a:t>
            </a:r>
            <a:r>
              <a:rPr lang="en-IN" sz="3200" b="1" i="1" kern="100" dirty="0">
                <a:effectLst/>
                <a:latin typeface="Calibri" panose="020F0502020204030204" pitchFamily="34" charset="0"/>
                <a:ea typeface="Calibri" panose="020F0502020204030204" pitchFamily="34" charset="0"/>
                <a:cs typeface="Mangal" panose="02040503050203030202" pitchFamily="18" charset="0"/>
              </a:rPr>
              <a:t>upper performance range</a:t>
            </a:r>
            <a:r>
              <a:rPr lang="en-IN" sz="3200" b="1" kern="100" dirty="0">
                <a:effectLst/>
                <a:latin typeface="Calibri" panose="020F0502020204030204" pitchFamily="34" charset="0"/>
                <a:ea typeface="Calibri" panose="020F0502020204030204" pitchFamily="34" charset="0"/>
                <a:cs typeface="Mangal" panose="02040503050203030202" pitchFamily="18" charset="0"/>
              </a:rPr>
              <a:t> of what modern remote-sensing segmentation papers report</a:t>
            </a:r>
            <a:r>
              <a:rPr lang="en-IN" sz="3200" kern="100" dirty="0">
                <a:effectLst/>
                <a:latin typeface="Calibri" panose="020F0502020204030204" pitchFamily="34" charset="0"/>
                <a:ea typeface="Calibri" panose="020F0502020204030204" pitchFamily="34" charset="0"/>
                <a:cs typeface="Mangal" panose="02040503050203030202" pitchFamily="18" charset="0"/>
              </a:rPr>
              <a:t>, confirming strong generalization despite dataset challenges.</a:t>
            </a:r>
          </a:p>
          <a:p>
            <a:pPr marL="342900" marR="0" lvl="0" indent="-342900" algn="just">
              <a:lnSpc>
                <a:spcPct val="115000"/>
              </a:lnSpc>
              <a:spcAft>
                <a:spcPts val="800"/>
              </a:spcAft>
              <a:buFont typeface="+mj-lt"/>
              <a:buAutoNum type="arabicPeriod"/>
              <a:tabLst>
                <a:tab pos="457200" algn="l"/>
              </a:tabLst>
            </a:pPr>
            <a:r>
              <a:rPr lang="en-IN" sz="3200" b="1" kern="100" dirty="0">
                <a:latin typeface="Calibri" panose="020F0502020204030204" pitchFamily="34" charset="0"/>
                <a:ea typeface="Calibri" panose="020F0502020204030204" pitchFamily="34" charset="0"/>
                <a:cs typeface="Mangal" panose="02040503050203030202" pitchFamily="18" charset="0"/>
              </a:rPr>
              <a:t>O</a:t>
            </a:r>
            <a:r>
              <a:rPr lang="en-IN" sz="3200" b="1" kern="100" dirty="0">
                <a:effectLst/>
                <a:latin typeface="Calibri" panose="020F0502020204030204" pitchFamily="34" charset="0"/>
                <a:ea typeface="Calibri" panose="020F0502020204030204" pitchFamily="34" charset="0"/>
                <a:cs typeface="Mangal" panose="02040503050203030202" pitchFamily="18" charset="0"/>
              </a:rPr>
              <a:t>ur vanilla U-Net (73.30% IoU) already exceeds the typical U-Net baseline range (65–72%) reported in multiple studies</a:t>
            </a:r>
            <a:r>
              <a:rPr lang="en-IN" sz="3200" kern="100" dirty="0">
                <a:effectLst/>
                <a:latin typeface="Calibri" panose="020F0502020204030204" pitchFamily="34" charset="0"/>
                <a:ea typeface="Calibri" panose="020F0502020204030204" pitchFamily="34" charset="0"/>
                <a:cs typeface="Mangal" panose="02040503050203030202" pitchFamily="18" charset="0"/>
              </a:rPr>
              <a:t>, demonstrating effective preprocessing and augmentation.</a:t>
            </a:r>
          </a:p>
          <a:p>
            <a:pPr marL="342900" marR="0" lvl="0" indent="-342900" algn="just">
              <a:lnSpc>
                <a:spcPct val="115000"/>
              </a:lnSpc>
              <a:spcAft>
                <a:spcPts val="800"/>
              </a:spcAft>
              <a:buFont typeface="+mj-lt"/>
              <a:buAutoNum type="arabicPeriod"/>
              <a:tabLst>
                <a:tab pos="457200" algn="l"/>
              </a:tabLst>
            </a:pPr>
            <a:r>
              <a:rPr lang="en-IN" sz="3200" b="1" kern="100" dirty="0">
                <a:effectLst/>
                <a:latin typeface="Calibri" panose="020F0502020204030204" pitchFamily="34" charset="0"/>
                <a:ea typeface="Calibri" panose="020F0502020204030204" pitchFamily="34" charset="0"/>
                <a:cs typeface="Mangal" panose="02040503050203030202" pitchFamily="18" charset="0"/>
              </a:rPr>
              <a:t>Dice Loss provides an 8.6% absolute IoU improvement over Cross-Entropy</a:t>
            </a:r>
            <a:r>
              <a:rPr lang="en-IN" sz="3200" kern="100" dirty="0">
                <a:effectLst/>
                <a:latin typeface="Calibri" panose="020F0502020204030204" pitchFamily="34" charset="0"/>
                <a:ea typeface="Calibri" panose="020F0502020204030204" pitchFamily="34" charset="0"/>
                <a:cs typeface="Mangal" panose="02040503050203030202" pitchFamily="18" charset="0"/>
              </a:rPr>
              <a:t>, which is higher than the usual 4–6% gain reported in literature, confirming its suitability for highly imbalanced glacial-lake segmentation.</a:t>
            </a:r>
          </a:p>
          <a:p>
            <a:pPr marL="342900" marR="0" lvl="0" indent="-342900" algn="just">
              <a:lnSpc>
                <a:spcPct val="115000"/>
              </a:lnSpc>
              <a:spcAft>
                <a:spcPts val="800"/>
              </a:spcAft>
              <a:buFont typeface="+mj-lt"/>
              <a:buAutoNum type="arabicPeriod"/>
              <a:tabLst>
                <a:tab pos="457200" algn="l"/>
              </a:tabLst>
            </a:pPr>
            <a:r>
              <a:rPr lang="en-IN" sz="3200" b="1" kern="100" dirty="0">
                <a:effectLst/>
                <a:latin typeface="Calibri" panose="020F0502020204030204" pitchFamily="34" charset="0"/>
                <a:ea typeface="Calibri" panose="020F0502020204030204" pitchFamily="34" charset="0"/>
                <a:cs typeface="Mangal" panose="02040503050203030202" pitchFamily="18" charset="0"/>
              </a:rPr>
              <a:t>EfficientNetB0 underperforms (40.71% IoU)</a:t>
            </a:r>
            <a:r>
              <a:rPr lang="en-IN" sz="3200" kern="100" dirty="0">
                <a:effectLst/>
                <a:latin typeface="Calibri" panose="020F0502020204030204" pitchFamily="34" charset="0"/>
                <a:ea typeface="Calibri" panose="020F0502020204030204" pitchFamily="34" charset="0"/>
                <a:cs typeface="Mangal" panose="02040503050203030202" pitchFamily="18" charset="0"/>
              </a:rPr>
              <a:t> compared to expectations from natural-image studies, highlighting that lightweight models are not ideal for high-mountain remote sensing — consistent with findings in [9].</a:t>
            </a:r>
          </a:p>
          <a:p>
            <a:pPr marL="342900" marR="0" lvl="0" indent="-342900" algn="just">
              <a:lnSpc>
                <a:spcPct val="115000"/>
              </a:lnSpc>
              <a:spcAft>
                <a:spcPts val="800"/>
              </a:spcAft>
              <a:buFont typeface="+mj-lt"/>
              <a:buAutoNum type="arabicPeriod"/>
              <a:tabLst>
                <a:tab pos="457200" algn="l"/>
              </a:tabLst>
            </a:pPr>
            <a:r>
              <a:rPr lang="en-IN" sz="3200" b="1" kern="100" dirty="0">
                <a:latin typeface="Calibri" panose="020F0502020204030204" pitchFamily="34" charset="0"/>
                <a:ea typeface="Calibri" panose="020F0502020204030204" pitchFamily="34" charset="0"/>
                <a:cs typeface="Mangal" panose="02040503050203030202" pitchFamily="18" charset="0"/>
              </a:rPr>
              <a:t>O</a:t>
            </a:r>
            <a:r>
              <a:rPr lang="en-IN" sz="3200" b="1" kern="100" dirty="0">
                <a:effectLst/>
                <a:latin typeface="Calibri" panose="020F0502020204030204" pitchFamily="34" charset="0"/>
                <a:ea typeface="Calibri" panose="020F0502020204030204" pitchFamily="34" charset="0"/>
                <a:cs typeface="Mangal" panose="02040503050203030202" pitchFamily="18" charset="0"/>
              </a:rPr>
              <a:t>ur DeepLabV3+ configuration performs competitively with advanced RS segmentation techniques</a:t>
            </a:r>
            <a:r>
              <a:rPr lang="en-IN" sz="3200" kern="100" dirty="0">
                <a:effectLst/>
                <a:latin typeface="Calibri" panose="020F0502020204030204" pitchFamily="34" charset="0"/>
                <a:ea typeface="Calibri" panose="020F0502020204030204" pitchFamily="34" charset="0"/>
                <a:cs typeface="Mangal" panose="02040503050203030202" pitchFamily="18" charset="0"/>
              </a:rPr>
              <a:t>, even without temporal priors or multispectral bands.</a:t>
            </a:r>
          </a:p>
        </p:txBody>
      </p:sp>
    </p:spTree>
    <p:extLst>
      <p:ext uri="{BB962C8B-B14F-4D97-AF65-F5344CB8AC3E}">
        <p14:creationId xmlns:p14="http://schemas.microsoft.com/office/powerpoint/2010/main" val="3571902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02DD2A4-F79B-B10E-07F3-8C6E37F217E6}"/>
              </a:ext>
            </a:extLst>
          </p:cNvPr>
          <p:cNvSpPr>
            <a:spLocks noGrp="1"/>
          </p:cNvSpPr>
          <p:nvPr>
            <p:ph type="ftr" sz="quarter" idx="11"/>
          </p:nvPr>
        </p:nvSpPr>
        <p:spPr/>
        <p:txBody>
          <a:bodyPr/>
          <a:lstStyle/>
          <a:p>
            <a:pPr defTabSz="1371600"/>
            <a:r>
              <a:rPr lang="en-US" dirty="0">
                <a:solidFill>
                  <a:prstClr val="black">
                    <a:tint val="75000"/>
                  </a:prstClr>
                </a:solidFill>
              </a:rPr>
              <a:t>Made By : SHIKHAR SINGH cseai kiet</a:t>
            </a:r>
          </a:p>
        </p:txBody>
      </p:sp>
      <p:pic>
        <p:nvPicPr>
          <p:cNvPr id="6" name="Picture 5">
            <a:extLst>
              <a:ext uri="{FF2B5EF4-FFF2-40B4-BE49-F238E27FC236}">
                <a16:creationId xmlns:a16="http://schemas.microsoft.com/office/drawing/2014/main" id="{63EE0D7F-01A7-DFE0-BC3B-4FE9D5A08D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87943"/>
            <a:ext cx="18288000" cy="8799057"/>
          </a:xfrm>
          <a:prstGeom prst="rect">
            <a:avLst/>
          </a:prstGeom>
        </p:spPr>
      </p:pic>
      <p:sp>
        <p:nvSpPr>
          <p:cNvPr id="7" name="TextBox 6">
            <a:extLst>
              <a:ext uri="{FF2B5EF4-FFF2-40B4-BE49-F238E27FC236}">
                <a16:creationId xmlns:a16="http://schemas.microsoft.com/office/drawing/2014/main" id="{28D32032-8D67-0C13-58FF-941A1D5328FD}"/>
              </a:ext>
            </a:extLst>
          </p:cNvPr>
          <p:cNvSpPr txBox="1"/>
          <p:nvPr/>
        </p:nvSpPr>
        <p:spPr>
          <a:xfrm>
            <a:off x="228600" y="164504"/>
            <a:ext cx="16535400" cy="1323439"/>
          </a:xfrm>
          <a:prstGeom prst="rect">
            <a:avLst/>
          </a:prstGeom>
          <a:noFill/>
        </p:spPr>
        <p:txBody>
          <a:bodyPr wrap="square" rtlCol="0">
            <a:spAutoFit/>
          </a:bodyPr>
          <a:lstStyle/>
          <a:p>
            <a:r>
              <a:rPr lang="en-US" sz="8000" b="1" dirty="0">
                <a:latin typeface="Times New Roman" panose="02020603050405020304" pitchFamily="18" charset="0"/>
                <a:cs typeface="Times New Roman" panose="02020603050405020304" pitchFamily="18" charset="0"/>
              </a:rPr>
              <a:t>Methodology</a:t>
            </a:r>
            <a:endParaRPr lang="en-IN" sz="8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B09BCCD-6BB5-0386-56B6-CA48D8380670}"/>
              </a:ext>
            </a:extLst>
          </p:cNvPr>
          <p:cNvSpPr txBox="1"/>
          <p:nvPr/>
        </p:nvSpPr>
        <p:spPr>
          <a:xfrm>
            <a:off x="15468600" y="6591300"/>
            <a:ext cx="914400" cy="492443"/>
          </a:xfrm>
          <a:prstGeom prst="rect">
            <a:avLst/>
          </a:prstGeom>
          <a:solidFill>
            <a:schemeClr val="bg1"/>
          </a:solidFill>
        </p:spPr>
        <p:txBody>
          <a:bodyPr wrap="square" rtlCol="0">
            <a:spAutoFit/>
          </a:bodyPr>
          <a:lstStyle/>
          <a:p>
            <a:r>
              <a:rPr lang="en-US" sz="2600" b="1" dirty="0"/>
              <a:t>IoU</a:t>
            </a:r>
            <a:endParaRPr lang="en-IN" sz="2600" b="1" dirty="0"/>
          </a:p>
        </p:txBody>
      </p:sp>
      <p:sp>
        <p:nvSpPr>
          <p:cNvPr id="15" name="AutoShape 4" descr="Arrow PNG, Vector, PSD, and Clipart With Transparent Background for Free  Download | Pngtree">
            <a:extLst>
              <a:ext uri="{FF2B5EF4-FFF2-40B4-BE49-F238E27FC236}">
                <a16:creationId xmlns:a16="http://schemas.microsoft.com/office/drawing/2014/main" id="{B668B514-41F8-C803-F926-27209966A64B}"/>
              </a:ext>
            </a:extLst>
          </p:cNvPr>
          <p:cNvSpPr>
            <a:spLocks noChangeAspect="1" noChangeArrowheads="1"/>
          </p:cNvSpPr>
          <p:nvPr/>
        </p:nvSpPr>
        <p:spPr bwMode="auto">
          <a:xfrm>
            <a:off x="8991600" y="4991100"/>
            <a:ext cx="4343400" cy="4343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7" name="Picture 16">
            <a:extLst>
              <a:ext uri="{FF2B5EF4-FFF2-40B4-BE49-F238E27FC236}">
                <a16:creationId xmlns:a16="http://schemas.microsoft.com/office/drawing/2014/main" id="{13DC1BB0-09C5-A604-FE90-3B86463A54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2209800" y="4648200"/>
            <a:ext cx="495300" cy="495300"/>
          </a:xfrm>
          <a:prstGeom prst="rect">
            <a:avLst/>
          </a:prstGeom>
        </p:spPr>
      </p:pic>
      <p:sp>
        <p:nvSpPr>
          <p:cNvPr id="18" name="TextBox 17">
            <a:extLst>
              <a:ext uri="{FF2B5EF4-FFF2-40B4-BE49-F238E27FC236}">
                <a16:creationId xmlns:a16="http://schemas.microsoft.com/office/drawing/2014/main" id="{C960BB0F-86BD-9A4A-7547-4846E1BC065E}"/>
              </a:ext>
            </a:extLst>
          </p:cNvPr>
          <p:cNvSpPr txBox="1"/>
          <p:nvPr/>
        </p:nvSpPr>
        <p:spPr>
          <a:xfrm>
            <a:off x="13944600" y="2628901"/>
            <a:ext cx="3886200" cy="7478970"/>
          </a:xfrm>
          <a:prstGeom prst="rect">
            <a:avLst/>
          </a:prstGeom>
          <a:solidFill>
            <a:srgbClr val="C00000"/>
          </a:solidFill>
        </p:spPr>
        <p:txBody>
          <a:bodyPr wrap="square" rtlCol="0">
            <a:spAutoFit/>
          </a:bodyPr>
          <a:lstStyle/>
          <a:p>
            <a:r>
              <a:rPr lang="en-US" sz="2400" dirty="0">
                <a:solidFill>
                  <a:schemeClr val="bg1"/>
                </a:solidFill>
                <a:latin typeface="Arial Rounded MT Bold" panose="020F0704030504030204" pitchFamily="34" charset="0"/>
              </a:rPr>
              <a:t>Output:</a:t>
            </a:r>
          </a:p>
          <a:p>
            <a:endParaRPr lang="en-US" sz="2400" dirty="0">
              <a:solidFill>
                <a:schemeClr val="bg1"/>
              </a:solidFill>
              <a:latin typeface="Arial Rounded MT Bold" panose="020F0704030504030204" pitchFamily="34" charset="0"/>
            </a:endParaRPr>
          </a:p>
          <a:p>
            <a:r>
              <a:rPr lang="en-US" sz="2400" dirty="0">
                <a:solidFill>
                  <a:schemeClr val="bg1"/>
                </a:solidFill>
                <a:latin typeface="Arial Rounded MT Bold" panose="020F0704030504030204" pitchFamily="34" charset="0"/>
              </a:rPr>
              <a:t>Semantic Segmentation masks:</a:t>
            </a:r>
            <a:br>
              <a:rPr lang="en-US" sz="2400" dirty="0">
                <a:solidFill>
                  <a:schemeClr val="bg1"/>
                </a:solidFill>
                <a:latin typeface="Arial Rounded MT Bold" panose="020F0704030504030204" pitchFamily="34" charset="0"/>
              </a:rPr>
            </a:br>
            <a:r>
              <a:rPr lang="en-US" sz="2400" dirty="0">
                <a:solidFill>
                  <a:schemeClr val="bg1"/>
                </a:solidFill>
                <a:latin typeface="Arial Rounded MT Bold" panose="020F0704030504030204" pitchFamily="34" charset="0"/>
              </a:rPr>
              <a:t>         Glacial Lakes=white</a:t>
            </a:r>
          </a:p>
          <a:p>
            <a:r>
              <a:rPr lang="en-US" sz="2400" dirty="0">
                <a:solidFill>
                  <a:schemeClr val="bg1"/>
                </a:solidFill>
                <a:latin typeface="Arial Rounded MT Bold" panose="020F0704030504030204" pitchFamily="34" charset="0"/>
              </a:rPr>
              <a:t>          Background=black</a:t>
            </a:r>
            <a:endParaRPr lang="en-IN" sz="2400" dirty="0">
              <a:solidFill>
                <a:schemeClr val="bg1"/>
              </a:solidFill>
              <a:latin typeface="Arial Rounded MT Bold" panose="020F0704030504030204" pitchFamily="34" charset="0"/>
            </a:endParaRPr>
          </a:p>
          <a:p>
            <a:endParaRPr lang="en-IN" sz="2400" dirty="0">
              <a:solidFill>
                <a:schemeClr val="bg1"/>
              </a:solidFill>
              <a:latin typeface="Arial Rounded MT Bold" panose="020F0704030504030204" pitchFamily="34" charset="0"/>
            </a:endParaRPr>
          </a:p>
          <a:p>
            <a:endParaRPr lang="en-IN" sz="2400" dirty="0">
              <a:solidFill>
                <a:schemeClr val="bg1"/>
              </a:solidFill>
              <a:latin typeface="Arial Rounded MT Bold" panose="020F0704030504030204" pitchFamily="34" charset="0"/>
            </a:endParaRPr>
          </a:p>
          <a:p>
            <a:endParaRPr lang="en-IN" sz="2400" dirty="0">
              <a:solidFill>
                <a:schemeClr val="bg1"/>
              </a:solidFill>
              <a:latin typeface="Arial Rounded MT Bold" panose="020F0704030504030204" pitchFamily="34" charset="0"/>
            </a:endParaRPr>
          </a:p>
          <a:p>
            <a:endParaRPr lang="en-IN" sz="2400" dirty="0">
              <a:solidFill>
                <a:schemeClr val="bg1"/>
              </a:solidFill>
              <a:latin typeface="Arial Rounded MT Bold" panose="020F0704030504030204" pitchFamily="34" charset="0"/>
            </a:endParaRPr>
          </a:p>
          <a:p>
            <a:endParaRPr lang="en-IN" sz="2400" dirty="0">
              <a:solidFill>
                <a:schemeClr val="bg1"/>
              </a:solidFill>
              <a:latin typeface="Arial Rounded MT Bold" panose="020F0704030504030204" pitchFamily="34" charset="0"/>
            </a:endParaRPr>
          </a:p>
          <a:p>
            <a:r>
              <a:rPr lang="en-IN" sz="2400" dirty="0">
                <a:solidFill>
                  <a:schemeClr val="bg1"/>
                </a:solidFill>
                <a:latin typeface="Arial Rounded MT Bold" panose="020F0704030504030204" pitchFamily="34" charset="0"/>
              </a:rPr>
              <a:t>Performance Metrics</a:t>
            </a:r>
            <a:r>
              <a:rPr lang="en-US" sz="2400" dirty="0">
                <a:solidFill>
                  <a:schemeClr val="bg1"/>
                </a:solidFill>
                <a:latin typeface="Arial Rounded MT Bold" panose="020F0704030504030204" pitchFamily="34" charset="0"/>
              </a:rPr>
              <a:t>:</a:t>
            </a:r>
          </a:p>
          <a:p>
            <a:r>
              <a:rPr lang="en-US" sz="2400" dirty="0">
                <a:solidFill>
                  <a:schemeClr val="bg1"/>
                </a:solidFill>
                <a:latin typeface="Arial Rounded MT Bold" panose="020F0704030504030204" pitchFamily="34" charset="0"/>
              </a:rPr>
              <a:t>     IoU</a:t>
            </a:r>
          </a:p>
          <a:p>
            <a:r>
              <a:rPr lang="en-US" sz="2400" dirty="0">
                <a:solidFill>
                  <a:schemeClr val="bg1"/>
                </a:solidFill>
                <a:latin typeface="Arial Rounded MT Bold" panose="020F0704030504030204" pitchFamily="34" charset="0"/>
              </a:rPr>
              <a:t>     F1 score</a:t>
            </a:r>
          </a:p>
          <a:p>
            <a:r>
              <a:rPr lang="en-US" sz="2400" dirty="0">
                <a:solidFill>
                  <a:schemeClr val="bg1"/>
                </a:solidFill>
                <a:latin typeface="Arial Rounded MT Bold" panose="020F0704030504030204" pitchFamily="34" charset="0"/>
              </a:rPr>
              <a:t>     Precision</a:t>
            </a:r>
          </a:p>
          <a:p>
            <a:r>
              <a:rPr lang="en-US" sz="2400" dirty="0">
                <a:solidFill>
                  <a:schemeClr val="bg1"/>
                </a:solidFill>
                <a:latin typeface="Arial Rounded MT Bold" panose="020F0704030504030204" pitchFamily="34" charset="0"/>
              </a:rPr>
              <a:t>     Accuracy</a:t>
            </a:r>
          </a:p>
          <a:p>
            <a:r>
              <a:rPr lang="en-US" sz="2400" dirty="0">
                <a:solidFill>
                  <a:schemeClr val="bg1"/>
                </a:solidFill>
                <a:latin typeface="Arial Rounded MT Bold" panose="020F0704030504030204" pitchFamily="34" charset="0"/>
              </a:rPr>
              <a:t>     Recall</a:t>
            </a:r>
          </a:p>
          <a:p>
            <a:r>
              <a:rPr lang="en-US" sz="2400" dirty="0">
                <a:solidFill>
                  <a:schemeClr val="bg1"/>
                </a:solidFill>
                <a:latin typeface="Arial Rounded MT Bold" panose="020F0704030504030204" pitchFamily="34" charset="0"/>
              </a:rPr>
              <a:t>     Dice Coefficient</a:t>
            </a:r>
          </a:p>
          <a:p>
            <a:endParaRPr lang="en-US" sz="2400" dirty="0">
              <a:solidFill>
                <a:schemeClr val="bg1"/>
              </a:solidFill>
              <a:latin typeface="Arial Rounded MT Bold" panose="020F0704030504030204" pitchFamily="34" charset="0"/>
            </a:endParaRPr>
          </a:p>
          <a:p>
            <a:endParaRPr lang="en-US" sz="2400" dirty="0">
              <a:solidFill>
                <a:schemeClr val="bg1"/>
              </a:solidFill>
              <a:latin typeface="Arial Rounded MT Bold" panose="020F0704030504030204" pitchFamily="34" charset="0"/>
            </a:endParaRPr>
          </a:p>
        </p:txBody>
      </p:sp>
      <p:sp>
        <p:nvSpPr>
          <p:cNvPr id="21" name="Rectangle: Rounded Corners 20">
            <a:extLst>
              <a:ext uri="{FF2B5EF4-FFF2-40B4-BE49-F238E27FC236}">
                <a16:creationId xmlns:a16="http://schemas.microsoft.com/office/drawing/2014/main" id="{AD97E149-9C88-3ECD-6417-083B0EDEBB1F}"/>
              </a:ext>
            </a:extLst>
          </p:cNvPr>
          <p:cNvSpPr/>
          <p:nvPr/>
        </p:nvSpPr>
        <p:spPr>
          <a:xfrm>
            <a:off x="13944600" y="3257550"/>
            <a:ext cx="3886200" cy="173355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Rectangle: Rounded Corners 21">
            <a:extLst>
              <a:ext uri="{FF2B5EF4-FFF2-40B4-BE49-F238E27FC236}">
                <a16:creationId xmlns:a16="http://schemas.microsoft.com/office/drawing/2014/main" id="{440E1080-D1F4-A955-C392-122070943D5A}"/>
              </a:ext>
            </a:extLst>
          </p:cNvPr>
          <p:cNvSpPr/>
          <p:nvPr/>
        </p:nvSpPr>
        <p:spPr>
          <a:xfrm>
            <a:off x="13944600" y="6599171"/>
            <a:ext cx="3886200" cy="266387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4" name="Picture 23" descr="A black arrow pointing to the right&#10;&#10;AI-generated content may be incorrect.">
            <a:extLst>
              <a:ext uri="{FF2B5EF4-FFF2-40B4-BE49-F238E27FC236}">
                <a16:creationId xmlns:a16="http://schemas.microsoft.com/office/drawing/2014/main" id="{C0C1AF64-F5C6-3617-F052-E62341A6DF83}"/>
              </a:ext>
            </a:extLst>
          </p:cNvPr>
          <p:cNvPicPr>
            <a:picLocks noChangeAspect="1"/>
          </p:cNvPicPr>
          <p:nvPr/>
        </p:nvPicPr>
        <p:blipFill>
          <a:blip r:embed="rId4"/>
          <a:stretch>
            <a:fillRect/>
          </a:stretch>
        </p:blipFill>
        <p:spPr>
          <a:xfrm>
            <a:off x="13677900" y="3208235"/>
            <a:ext cx="381000" cy="291353"/>
          </a:xfrm>
          <a:prstGeom prst="rect">
            <a:avLst/>
          </a:prstGeom>
        </p:spPr>
      </p:pic>
      <p:sp>
        <p:nvSpPr>
          <p:cNvPr id="3" name="TextBox 2">
            <a:extLst>
              <a:ext uri="{FF2B5EF4-FFF2-40B4-BE49-F238E27FC236}">
                <a16:creationId xmlns:a16="http://schemas.microsoft.com/office/drawing/2014/main" id="{AE9475FA-67F0-F0E7-EF64-59625A01E7A4}"/>
              </a:ext>
            </a:extLst>
          </p:cNvPr>
          <p:cNvSpPr txBox="1"/>
          <p:nvPr/>
        </p:nvSpPr>
        <p:spPr>
          <a:xfrm>
            <a:off x="15468600" y="122057"/>
            <a:ext cx="3810000" cy="366714"/>
          </a:xfrm>
          <a:prstGeom prst="rect">
            <a:avLst/>
          </a:prstGeom>
          <a:noFill/>
        </p:spPr>
        <p:txBody>
          <a:bodyPr wrap="square" rtlCol="0">
            <a:spAutoFit/>
          </a:bodyPr>
          <a:lstStyle/>
          <a:p>
            <a:r>
              <a:rPr lang="en-US" b="1" dirty="0"/>
              <a:t>Figure by: Shikhar Singh</a:t>
            </a:r>
            <a:endParaRPr lang="en-IN" b="1" dirty="0"/>
          </a:p>
        </p:txBody>
      </p:sp>
      <p:sp>
        <p:nvSpPr>
          <p:cNvPr id="4" name="Rectangle 3">
            <a:extLst>
              <a:ext uri="{FF2B5EF4-FFF2-40B4-BE49-F238E27FC236}">
                <a16:creationId xmlns:a16="http://schemas.microsoft.com/office/drawing/2014/main" id="{52074C7B-F39E-AA9D-340C-E5660EE590B3}"/>
              </a:ext>
            </a:extLst>
          </p:cNvPr>
          <p:cNvSpPr/>
          <p:nvPr/>
        </p:nvSpPr>
        <p:spPr>
          <a:xfrm>
            <a:off x="11024347" y="6403643"/>
            <a:ext cx="1485900" cy="375314"/>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67682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752494" y="400050"/>
            <a:ext cx="15478106" cy="3583930"/>
          </a:xfrm>
          <a:prstGeom prst="rect">
            <a:avLst/>
          </a:prstGeom>
        </p:spPr>
        <p:txBody>
          <a:bodyPr wrap="square" lIns="0" tIns="0" rIns="0" bIns="0" rtlCol="0" anchor="t">
            <a:spAutoFit/>
          </a:bodyPr>
          <a:lstStyle/>
          <a:p>
            <a:pPr>
              <a:lnSpc>
                <a:spcPts val="9600"/>
              </a:lnSpc>
            </a:pPr>
            <a:r>
              <a:rPr lang="en-US" sz="8000" b="1" spc="-504" dirty="0">
                <a:latin typeface="Times New Roman" panose="02020603050405020304" pitchFamily="18" charset="0"/>
                <a:ea typeface="Public Sans Bold"/>
                <a:cs typeface="Times New Roman" panose="02020603050405020304" pitchFamily="18" charset="0"/>
                <a:sym typeface="Public Sans Bold"/>
              </a:rPr>
              <a:t>Methodology</a:t>
            </a:r>
          </a:p>
          <a:p>
            <a:pPr>
              <a:lnSpc>
                <a:spcPts val="9600"/>
              </a:lnSpc>
            </a:pPr>
            <a:r>
              <a:rPr lang="en-US" sz="4800" spc="-504" dirty="0">
                <a:latin typeface="Bahnschrift" panose="020B0502040204020203" pitchFamily="34" charset="0"/>
                <a:ea typeface="Public Sans Bold"/>
                <a:cs typeface="Times New Roman" panose="02020603050405020304" pitchFamily="18" charset="0"/>
                <a:sym typeface="Public Sans Bold"/>
              </a:rPr>
              <a:t>Model Selection </a:t>
            </a:r>
          </a:p>
          <a:p>
            <a:pPr>
              <a:lnSpc>
                <a:spcPts val="9600"/>
              </a:lnSpc>
            </a:pPr>
            <a:endParaRPr lang="en-US" sz="6600" b="1" spc="-504" dirty="0">
              <a:latin typeface="Times New Roman" panose="02020603050405020304" pitchFamily="18" charset="0"/>
              <a:ea typeface="Public Sans Bold"/>
              <a:cs typeface="Times New Roman" panose="02020603050405020304" pitchFamily="18" charset="0"/>
              <a:sym typeface="Public Sans Bold"/>
            </a:endParaRPr>
          </a:p>
        </p:txBody>
      </p:sp>
      <p:graphicFrame>
        <p:nvGraphicFramePr>
          <p:cNvPr id="2" name="Table 1">
            <a:extLst>
              <a:ext uri="{FF2B5EF4-FFF2-40B4-BE49-F238E27FC236}">
                <a16:creationId xmlns:a16="http://schemas.microsoft.com/office/drawing/2014/main" id="{52D51B2E-4817-1CC0-07A7-23A21922063E}"/>
              </a:ext>
            </a:extLst>
          </p:cNvPr>
          <p:cNvGraphicFramePr>
            <a:graphicFrameLocks noGrp="1"/>
          </p:cNvGraphicFramePr>
          <p:nvPr>
            <p:extLst>
              <p:ext uri="{D42A27DB-BD31-4B8C-83A1-F6EECF244321}">
                <p14:modId xmlns:p14="http://schemas.microsoft.com/office/powerpoint/2010/main" val="1339568797"/>
              </p:ext>
            </p:extLst>
          </p:nvPr>
        </p:nvGraphicFramePr>
        <p:xfrm>
          <a:off x="730723" y="3314700"/>
          <a:ext cx="16764000" cy="5241600"/>
        </p:xfrm>
        <a:graphic>
          <a:graphicData uri="http://schemas.openxmlformats.org/drawingml/2006/table">
            <a:tbl>
              <a:tblPr firstRow="1" bandRow="1">
                <a:tableStyleId>{5940675A-B579-460E-94D1-54222C63F5DA}</a:tableStyleId>
              </a:tblPr>
              <a:tblGrid>
                <a:gridCol w="1493719">
                  <a:extLst>
                    <a:ext uri="{9D8B030D-6E8A-4147-A177-3AD203B41FA5}">
                      <a16:colId xmlns:a16="http://schemas.microsoft.com/office/drawing/2014/main" val="1136091555"/>
                    </a:ext>
                  </a:extLst>
                </a:gridCol>
                <a:gridCol w="2104034">
                  <a:extLst>
                    <a:ext uri="{9D8B030D-6E8A-4147-A177-3AD203B41FA5}">
                      <a16:colId xmlns:a16="http://schemas.microsoft.com/office/drawing/2014/main" val="1414370402"/>
                    </a:ext>
                  </a:extLst>
                </a:gridCol>
                <a:gridCol w="3215013">
                  <a:extLst>
                    <a:ext uri="{9D8B030D-6E8A-4147-A177-3AD203B41FA5}">
                      <a16:colId xmlns:a16="http://schemas.microsoft.com/office/drawing/2014/main" val="887126"/>
                    </a:ext>
                  </a:extLst>
                </a:gridCol>
                <a:gridCol w="5052164">
                  <a:extLst>
                    <a:ext uri="{9D8B030D-6E8A-4147-A177-3AD203B41FA5}">
                      <a16:colId xmlns:a16="http://schemas.microsoft.com/office/drawing/2014/main" val="1288370858"/>
                    </a:ext>
                  </a:extLst>
                </a:gridCol>
                <a:gridCol w="2219890">
                  <a:extLst>
                    <a:ext uri="{9D8B030D-6E8A-4147-A177-3AD203B41FA5}">
                      <a16:colId xmlns:a16="http://schemas.microsoft.com/office/drawing/2014/main" val="894880912"/>
                    </a:ext>
                  </a:extLst>
                </a:gridCol>
                <a:gridCol w="2679180">
                  <a:extLst>
                    <a:ext uri="{9D8B030D-6E8A-4147-A177-3AD203B41FA5}">
                      <a16:colId xmlns:a16="http://schemas.microsoft.com/office/drawing/2014/main" val="3390120274"/>
                    </a:ext>
                  </a:extLst>
                </a:gridCol>
              </a:tblGrid>
              <a:tr h="696686">
                <a:tc>
                  <a:txBody>
                    <a:bodyPr/>
                    <a:lstStyle/>
                    <a:p>
                      <a:pPr algn="ctr"/>
                      <a:r>
                        <a:rPr lang="en-US" b="1" dirty="0">
                          <a:latin typeface="Times New Roman" panose="02020603050405020304" pitchFamily="18" charset="0"/>
                          <a:cs typeface="Times New Roman" panose="02020603050405020304" pitchFamily="18" charset="0"/>
                        </a:rPr>
                        <a:t>Model</a:t>
                      </a:r>
                      <a:endParaRPr lang="LID4096" b="1" dirty="0">
                        <a:latin typeface="Times New Roman" panose="02020603050405020304" pitchFamily="18" charset="0"/>
                        <a:cs typeface="Times New Roman" panose="02020603050405020304" pitchFamily="18" charset="0"/>
                      </a:endParaRPr>
                    </a:p>
                  </a:txBody>
                  <a:tcPr>
                    <a:solidFill>
                      <a:srgbClr val="9A8C6C"/>
                    </a:solidFill>
                  </a:tcPr>
                </a:tc>
                <a:tc>
                  <a:txBody>
                    <a:bodyPr/>
                    <a:lstStyle/>
                    <a:p>
                      <a:pPr algn="ctr"/>
                      <a:r>
                        <a:rPr lang="en-US" b="1" dirty="0">
                          <a:latin typeface="Times New Roman" panose="02020603050405020304" pitchFamily="18" charset="0"/>
                          <a:cs typeface="Times New Roman" panose="02020603050405020304" pitchFamily="18" charset="0"/>
                        </a:rPr>
                        <a:t>Backbone</a:t>
                      </a:r>
                      <a:endParaRPr lang="LID4096" b="1" dirty="0">
                        <a:latin typeface="Times New Roman" panose="02020603050405020304" pitchFamily="18" charset="0"/>
                        <a:cs typeface="Times New Roman" panose="02020603050405020304" pitchFamily="18" charset="0"/>
                      </a:endParaRPr>
                    </a:p>
                  </a:txBody>
                  <a:tcPr>
                    <a:solidFill>
                      <a:srgbClr val="9A8C6C"/>
                    </a:solidFill>
                  </a:tcPr>
                </a:tc>
                <a:tc>
                  <a:txBody>
                    <a:bodyPr/>
                    <a:lstStyle/>
                    <a:p>
                      <a:pPr algn="ctr"/>
                      <a:r>
                        <a:rPr lang="en-US" b="1" dirty="0">
                          <a:latin typeface="Times New Roman" panose="02020603050405020304" pitchFamily="18" charset="0"/>
                          <a:cs typeface="Times New Roman" panose="02020603050405020304" pitchFamily="18" charset="0"/>
                        </a:rPr>
                        <a:t>Loss Functions</a:t>
                      </a:r>
                      <a:endParaRPr lang="LID4096" b="1" dirty="0">
                        <a:latin typeface="Times New Roman" panose="02020603050405020304" pitchFamily="18" charset="0"/>
                        <a:cs typeface="Times New Roman" panose="02020603050405020304" pitchFamily="18" charset="0"/>
                      </a:endParaRPr>
                    </a:p>
                  </a:txBody>
                  <a:tcPr>
                    <a:solidFill>
                      <a:srgbClr val="9A8C6C"/>
                    </a:solidFill>
                  </a:tcPr>
                </a:tc>
                <a:tc>
                  <a:txBody>
                    <a:bodyPr/>
                    <a:lstStyle/>
                    <a:p>
                      <a:pPr algn="ctr"/>
                      <a:r>
                        <a:rPr lang="en-US" b="1" dirty="0">
                          <a:latin typeface="Times New Roman" panose="02020603050405020304" pitchFamily="18" charset="0"/>
                          <a:cs typeface="Times New Roman" panose="02020603050405020304" pitchFamily="18" charset="0"/>
                        </a:rPr>
                        <a:t>Key Feature</a:t>
                      </a:r>
                      <a:endParaRPr lang="LID4096" b="1" dirty="0">
                        <a:latin typeface="Times New Roman" panose="02020603050405020304" pitchFamily="18" charset="0"/>
                        <a:cs typeface="Times New Roman" panose="02020603050405020304" pitchFamily="18" charset="0"/>
                      </a:endParaRPr>
                    </a:p>
                  </a:txBody>
                  <a:tcPr>
                    <a:solidFill>
                      <a:srgbClr val="9A8C6C"/>
                    </a:solidFill>
                  </a:tcPr>
                </a:tc>
                <a:tc>
                  <a:txBody>
                    <a:bodyPr/>
                    <a:lstStyle/>
                    <a:p>
                      <a:pPr algn="ctr"/>
                      <a:r>
                        <a:rPr lang="en-US" b="1" dirty="0">
                          <a:latin typeface="Times New Roman" panose="02020603050405020304" pitchFamily="18" charset="0"/>
                          <a:cs typeface="Times New Roman" panose="02020603050405020304" pitchFamily="18" charset="0"/>
                        </a:rPr>
                        <a:t>Training Process</a:t>
                      </a:r>
                      <a:endParaRPr lang="LID4096" b="1" dirty="0">
                        <a:latin typeface="Times New Roman" panose="02020603050405020304" pitchFamily="18" charset="0"/>
                        <a:cs typeface="Times New Roman" panose="02020603050405020304" pitchFamily="18" charset="0"/>
                      </a:endParaRPr>
                    </a:p>
                  </a:txBody>
                  <a:tcPr>
                    <a:solidFill>
                      <a:srgbClr val="9A8C6C"/>
                    </a:solidFill>
                  </a:tcPr>
                </a:tc>
                <a:tc>
                  <a:txBody>
                    <a:bodyPr/>
                    <a:lstStyle/>
                    <a:p>
                      <a:pPr algn="ctr"/>
                      <a:r>
                        <a:rPr lang="en-US" b="1" dirty="0">
                          <a:latin typeface="Times New Roman" panose="02020603050405020304" pitchFamily="18" charset="0"/>
                          <a:cs typeface="Times New Roman" panose="02020603050405020304" pitchFamily="18" charset="0"/>
                        </a:rPr>
                        <a:t>Hyperparameters</a:t>
                      </a:r>
                      <a:endParaRPr lang="LID4096" b="1" dirty="0">
                        <a:latin typeface="Times New Roman" panose="02020603050405020304" pitchFamily="18" charset="0"/>
                        <a:cs typeface="Times New Roman" panose="02020603050405020304" pitchFamily="18" charset="0"/>
                      </a:endParaRPr>
                    </a:p>
                  </a:txBody>
                  <a:tcPr>
                    <a:solidFill>
                      <a:srgbClr val="9A8C6C"/>
                    </a:solidFill>
                  </a:tcPr>
                </a:tc>
                <a:extLst>
                  <a:ext uri="{0D108BD9-81ED-4DB2-BD59-A6C34878D82A}">
                    <a16:rowId xmlns:a16="http://schemas.microsoft.com/office/drawing/2014/main" val="4130366070"/>
                  </a:ext>
                </a:extLst>
              </a:tr>
              <a:tr h="1590273">
                <a:tc>
                  <a:txBody>
                    <a:bodyPr/>
                    <a:lstStyle/>
                    <a:p>
                      <a:pPr algn="ctr"/>
                      <a:r>
                        <a:rPr lang="en-US" dirty="0">
                          <a:latin typeface="Times New Roman" panose="02020603050405020304" pitchFamily="18" charset="0"/>
                          <a:cs typeface="Times New Roman" panose="02020603050405020304" pitchFamily="18" charset="0"/>
                        </a:rPr>
                        <a:t>DeepLabV3+</a:t>
                      </a:r>
                      <a:endParaRPr lang="LID4096"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ResNet50</a:t>
                      </a:r>
                      <a:endParaRPr lang="LID4096"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Binary cross-entropy, Dice Loss</a:t>
                      </a:r>
                      <a:endParaRPr lang="LID4096"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 Advanced decoder for segmentation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Utilizes ASPP for multi-scale context extraction</a:t>
                      </a:r>
                      <a:endParaRPr lang="LID4096"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30 epochs</a:t>
                      </a:r>
                      <a:endParaRPr lang="LID4096"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LR = 1e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Optimizer: Adam</a:t>
                      </a:r>
                      <a:endParaRPr lang="LID4096"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975682"/>
                  </a:ext>
                </a:extLst>
              </a:tr>
              <a:tr h="2589840">
                <a:tc>
                  <a:txBody>
                    <a:bodyPr/>
                    <a:lstStyle/>
                    <a:p>
                      <a:pPr algn="ctr"/>
                      <a:r>
                        <a:rPr lang="en-US" dirty="0">
                          <a:latin typeface="Times New Roman" panose="02020603050405020304" pitchFamily="18" charset="0"/>
                          <a:cs typeface="Times New Roman" panose="02020603050405020304" pitchFamily="18" charset="0"/>
                        </a:rPr>
                        <a:t>U-Net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(Vanilla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&amp;</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Hybrid)</a:t>
                      </a:r>
                      <a:endParaRPr lang="LID4096"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ResNet50, EfficientNetB0</a:t>
                      </a:r>
                      <a:endParaRPr lang="LID4096"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Cross-entropy, Dice Loss</a:t>
                      </a:r>
                      <a:endParaRPr lang="LID4096"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 Encoder-decoder architecture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Skip connections</a:t>
                      </a:r>
                      <a:endParaRPr lang="LID4096"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50 epochs</a:t>
                      </a:r>
                      <a:endParaRPr lang="LID4096"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LR = 1e-3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Optimizer: Adam</a:t>
                      </a:r>
                      <a:endParaRPr lang="en-PK"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34774270"/>
                  </a:ext>
                </a:extLst>
              </a:tr>
            </a:tbl>
          </a:graphicData>
        </a:graphic>
      </p:graphicFrame>
      <p:sp>
        <p:nvSpPr>
          <p:cNvPr id="3" name="Footer Placeholder 2">
            <a:extLst>
              <a:ext uri="{FF2B5EF4-FFF2-40B4-BE49-F238E27FC236}">
                <a16:creationId xmlns:a16="http://schemas.microsoft.com/office/drawing/2014/main" id="{2199DF14-9165-1C2E-2B2F-DFECD36A7050}"/>
              </a:ext>
            </a:extLst>
          </p:cNvPr>
          <p:cNvSpPr>
            <a:spLocks noGrp="1"/>
          </p:cNvSpPr>
          <p:nvPr>
            <p:ph type="ftr" sz="quarter" idx="11"/>
          </p:nvPr>
        </p:nvSpPr>
        <p:spPr/>
        <p:txBody>
          <a:bodyPr/>
          <a:lstStyle/>
          <a:p>
            <a:pPr defTabSz="1371600"/>
            <a:r>
              <a:rPr lang="en-US" sz="2000" b="1" dirty="0">
                <a:solidFill>
                  <a:srgbClr val="002060"/>
                </a:solidFill>
              </a:rPr>
              <a:t>Made By : SHIKHAR SINGH</a:t>
            </a:r>
          </a:p>
        </p:txBody>
      </p:sp>
    </p:spTree>
    <p:extLst>
      <p:ext uri="{BB962C8B-B14F-4D97-AF65-F5344CB8AC3E}">
        <p14:creationId xmlns:p14="http://schemas.microsoft.com/office/powerpoint/2010/main" val="385958106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6E26482-06A8-8669-7713-1AE5941323F4}"/>
              </a:ext>
            </a:extLst>
          </p:cNvPr>
          <p:cNvSpPr>
            <a:spLocks noGrp="1"/>
          </p:cNvSpPr>
          <p:nvPr>
            <p:ph type="ftr" sz="quarter" idx="11"/>
          </p:nvPr>
        </p:nvSpPr>
        <p:spPr/>
        <p:txBody>
          <a:bodyPr/>
          <a:lstStyle/>
          <a:p>
            <a:pPr defTabSz="1371600"/>
            <a:r>
              <a:rPr lang="en-US" b="1" dirty="0">
                <a:solidFill>
                  <a:srgbClr val="002060"/>
                </a:solidFill>
              </a:rPr>
              <a:t>Made By : SHIKHAR SINGH</a:t>
            </a:r>
          </a:p>
        </p:txBody>
      </p:sp>
      <p:pic>
        <p:nvPicPr>
          <p:cNvPr id="4" name="Picture 3">
            <a:extLst>
              <a:ext uri="{FF2B5EF4-FFF2-40B4-BE49-F238E27FC236}">
                <a16:creationId xmlns:a16="http://schemas.microsoft.com/office/drawing/2014/main" id="{0C3C82F3-483B-5D96-8F1B-3F5000533B0B}"/>
              </a:ext>
            </a:extLst>
          </p:cNvPr>
          <p:cNvPicPr>
            <a:picLocks noChangeAspect="1"/>
          </p:cNvPicPr>
          <p:nvPr/>
        </p:nvPicPr>
        <p:blipFill>
          <a:blip r:embed="rId2"/>
          <a:stretch>
            <a:fillRect/>
          </a:stretch>
        </p:blipFill>
        <p:spPr>
          <a:xfrm>
            <a:off x="2514600" y="1409700"/>
            <a:ext cx="13487400" cy="8124826"/>
          </a:xfrm>
          <a:prstGeom prst="rect">
            <a:avLst/>
          </a:prstGeom>
        </p:spPr>
      </p:pic>
      <p:sp>
        <p:nvSpPr>
          <p:cNvPr id="6" name="TextBox 5">
            <a:extLst>
              <a:ext uri="{FF2B5EF4-FFF2-40B4-BE49-F238E27FC236}">
                <a16:creationId xmlns:a16="http://schemas.microsoft.com/office/drawing/2014/main" id="{6B406B45-ABC3-E75B-B206-491B9FC1A8E4}"/>
              </a:ext>
            </a:extLst>
          </p:cNvPr>
          <p:cNvSpPr txBox="1"/>
          <p:nvPr/>
        </p:nvSpPr>
        <p:spPr>
          <a:xfrm>
            <a:off x="495300" y="3848100"/>
            <a:ext cx="2057400" cy="523220"/>
          </a:xfrm>
          <a:prstGeom prst="rect">
            <a:avLst/>
          </a:prstGeom>
          <a:noFill/>
        </p:spPr>
        <p:txBody>
          <a:bodyPr wrap="square" rtlCol="0">
            <a:spAutoFit/>
          </a:bodyPr>
          <a:lstStyle/>
          <a:p>
            <a:r>
              <a:rPr lang="en-US" sz="2800" dirty="0"/>
              <a:t>Input Image</a:t>
            </a:r>
            <a:endParaRPr lang="en-IN" sz="2800" dirty="0"/>
          </a:p>
        </p:txBody>
      </p:sp>
      <p:sp>
        <p:nvSpPr>
          <p:cNvPr id="7" name="TextBox 6">
            <a:extLst>
              <a:ext uri="{FF2B5EF4-FFF2-40B4-BE49-F238E27FC236}">
                <a16:creationId xmlns:a16="http://schemas.microsoft.com/office/drawing/2014/main" id="{42E252C4-10B6-0570-8A4B-D94B2E287523}"/>
              </a:ext>
            </a:extLst>
          </p:cNvPr>
          <p:cNvSpPr txBox="1"/>
          <p:nvPr/>
        </p:nvSpPr>
        <p:spPr>
          <a:xfrm>
            <a:off x="16306800" y="7658100"/>
            <a:ext cx="2286000" cy="954107"/>
          </a:xfrm>
          <a:prstGeom prst="rect">
            <a:avLst/>
          </a:prstGeom>
          <a:noFill/>
        </p:spPr>
        <p:txBody>
          <a:bodyPr wrap="square" rtlCol="0">
            <a:spAutoFit/>
          </a:bodyPr>
          <a:lstStyle/>
          <a:p>
            <a:r>
              <a:rPr lang="en-US" sz="2800" dirty="0"/>
              <a:t>Output </a:t>
            </a:r>
            <a:br>
              <a:rPr lang="en-US" sz="2800" dirty="0"/>
            </a:br>
            <a:r>
              <a:rPr lang="en-US" sz="2800" dirty="0"/>
              <a:t>Mask</a:t>
            </a:r>
            <a:endParaRPr lang="en-IN" sz="2800" dirty="0"/>
          </a:p>
        </p:txBody>
      </p:sp>
      <p:sp>
        <p:nvSpPr>
          <p:cNvPr id="8" name="TextBox 7">
            <a:extLst>
              <a:ext uri="{FF2B5EF4-FFF2-40B4-BE49-F238E27FC236}">
                <a16:creationId xmlns:a16="http://schemas.microsoft.com/office/drawing/2014/main" id="{F1ADE1C2-C1EB-0A67-D122-D90ABEF74A46}"/>
              </a:ext>
            </a:extLst>
          </p:cNvPr>
          <p:cNvSpPr txBox="1"/>
          <p:nvPr/>
        </p:nvSpPr>
        <p:spPr>
          <a:xfrm>
            <a:off x="228600" y="164504"/>
            <a:ext cx="16535400" cy="1323439"/>
          </a:xfrm>
          <a:prstGeom prst="rect">
            <a:avLst/>
          </a:prstGeom>
          <a:noFill/>
        </p:spPr>
        <p:txBody>
          <a:bodyPr wrap="square" rtlCol="0">
            <a:spAutoFit/>
          </a:bodyPr>
          <a:lstStyle/>
          <a:p>
            <a:r>
              <a:rPr lang="en-US" sz="8000" b="1" dirty="0">
                <a:latin typeface="Times New Roman" panose="02020603050405020304" pitchFamily="18" charset="0"/>
                <a:cs typeface="Times New Roman" panose="02020603050405020304" pitchFamily="18" charset="0"/>
              </a:rPr>
              <a:t>Methodology </a:t>
            </a:r>
            <a:r>
              <a:rPr lang="en-US" sz="4400" i="1" dirty="0">
                <a:latin typeface="Times New Roman" panose="02020603050405020304" pitchFamily="18" charset="0"/>
                <a:cs typeface="Times New Roman" panose="02020603050405020304" pitchFamily="18" charset="0"/>
              </a:rPr>
              <a:t>(DeepLabV3 with ResNet-50)</a:t>
            </a:r>
            <a:endParaRPr lang="en-IN" sz="4400" i="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A685C81-3625-B0EC-C4F6-AD19FEBEC222}"/>
              </a:ext>
            </a:extLst>
          </p:cNvPr>
          <p:cNvSpPr txBox="1"/>
          <p:nvPr/>
        </p:nvSpPr>
        <p:spPr>
          <a:xfrm>
            <a:off x="13487400" y="9715500"/>
            <a:ext cx="3810000" cy="366714"/>
          </a:xfrm>
          <a:prstGeom prst="rect">
            <a:avLst/>
          </a:prstGeom>
          <a:noFill/>
        </p:spPr>
        <p:txBody>
          <a:bodyPr wrap="square" rtlCol="0">
            <a:spAutoFit/>
          </a:bodyPr>
          <a:lstStyle/>
          <a:p>
            <a:r>
              <a:rPr lang="en-US" b="1" dirty="0"/>
              <a:t>Figure by: Shakti Kumar</a:t>
            </a:r>
            <a:endParaRPr lang="en-IN" b="1" dirty="0"/>
          </a:p>
        </p:txBody>
      </p:sp>
    </p:spTree>
    <p:extLst>
      <p:ext uri="{BB962C8B-B14F-4D97-AF65-F5344CB8AC3E}">
        <p14:creationId xmlns:p14="http://schemas.microsoft.com/office/powerpoint/2010/main" val="698733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288B018-0354-511C-3B7E-A9A7EE8D3354}"/>
              </a:ext>
            </a:extLst>
          </p:cNvPr>
          <p:cNvSpPr>
            <a:spLocks noGrp="1"/>
          </p:cNvSpPr>
          <p:nvPr>
            <p:ph type="ftr" sz="quarter" idx="11"/>
          </p:nvPr>
        </p:nvSpPr>
        <p:spPr/>
        <p:txBody>
          <a:bodyPr/>
          <a:lstStyle/>
          <a:p>
            <a:pPr defTabSz="1371600"/>
            <a:r>
              <a:rPr lang="en-US" b="1" dirty="0">
                <a:solidFill>
                  <a:srgbClr val="002060"/>
                </a:solidFill>
              </a:rPr>
              <a:t>Made By : SHIKHAR SINGH</a:t>
            </a:r>
          </a:p>
        </p:txBody>
      </p:sp>
      <p:pic>
        <p:nvPicPr>
          <p:cNvPr id="5" name="Picture 4">
            <a:extLst>
              <a:ext uri="{FF2B5EF4-FFF2-40B4-BE49-F238E27FC236}">
                <a16:creationId xmlns:a16="http://schemas.microsoft.com/office/drawing/2014/main" id="{C97A2894-618A-CC54-9D4D-DAE06ADCF2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1597320"/>
            <a:ext cx="15556989" cy="7937206"/>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0B44B459-1B8D-556F-C1DC-E3C4DC65F577}"/>
                  </a:ext>
                </a:extLst>
              </p14:cNvPr>
              <p14:cNvContentPartPr/>
              <p14:nvPr/>
            </p14:nvContentPartPr>
            <p14:xfrm>
              <a:off x="7103134" y="9171180"/>
              <a:ext cx="207720" cy="250560"/>
            </p14:xfrm>
          </p:contentPart>
        </mc:Choice>
        <mc:Fallback xmlns="">
          <p:pic>
            <p:nvPicPr>
              <p:cNvPr id="6" name="Ink 5">
                <a:extLst>
                  <a:ext uri="{FF2B5EF4-FFF2-40B4-BE49-F238E27FC236}">
                    <a16:creationId xmlns:a16="http://schemas.microsoft.com/office/drawing/2014/main" id="{0B44B459-1B8D-556F-C1DC-E3C4DC65F577}"/>
                  </a:ext>
                </a:extLst>
              </p:cNvPr>
              <p:cNvPicPr/>
              <p:nvPr/>
            </p:nvPicPr>
            <p:blipFill>
              <a:blip r:embed="rId4"/>
              <a:stretch>
                <a:fillRect/>
              </a:stretch>
            </p:blipFill>
            <p:spPr>
              <a:xfrm>
                <a:off x="7040134" y="9108540"/>
                <a:ext cx="333360" cy="3762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6CF2BB1E-C842-BE95-45EA-E319BFC509F8}"/>
                  </a:ext>
                </a:extLst>
              </p14:cNvPr>
              <p14:cNvContentPartPr/>
              <p14:nvPr/>
            </p14:nvContentPartPr>
            <p14:xfrm>
              <a:off x="10923454" y="9175860"/>
              <a:ext cx="360" cy="228960"/>
            </p14:xfrm>
          </p:contentPart>
        </mc:Choice>
        <mc:Fallback xmlns="">
          <p:pic>
            <p:nvPicPr>
              <p:cNvPr id="8" name="Ink 7">
                <a:extLst>
                  <a:ext uri="{FF2B5EF4-FFF2-40B4-BE49-F238E27FC236}">
                    <a16:creationId xmlns:a16="http://schemas.microsoft.com/office/drawing/2014/main" id="{6CF2BB1E-C842-BE95-45EA-E319BFC509F8}"/>
                  </a:ext>
                </a:extLst>
              </p:cNvPr>
              <p:cNvPicPr/>
              <p:nvPr/>
            </p:nvPicPr>
            <p:blipFill>
              <a:blip r:embed="rId6"/>
              <a:stretch>
                <a:fillRect/>
              </a:stretch>
            </p:blipFill>
            <p:spPr>
              <a:xfrm>
                <a:off x="10860454" y="9113220"/>
                <a:ext cx="126000" cy="354600"/>
              </a:xfrm>
              <a:prstGeom prst="rect">
                <a:avLst/>
              </a:prstGeom>
            </p:spPr>
          </p:pic>
        </mc:Fallback>
      </mc:AlternateContent>
      <p:sp>
        <p:nvSpPr>
          <p:cNvPr id="9" name="TextBox 8">
            <a:extLst>
              <a:ext uri="{FF2B5EF4-FFF2-40B4-BE49-F238E27FC236}">
                <a16:creationId xmlns:a16="http://schemas.microsoft.com/office/drawing/2014/main" id="{D504DB27-08D9-E7A2-78A5-0E001B11AFB8}"/>
              </a:ext>
            </a:extLst>
          </p:cNvPr>
          <p:cNvSpPr txBox="1"/>
          <p:nvPr/>
        </p:nvSpPr>
        <p:spPr>
          <a:xfrm>
            <a:off x="228600" y="164504"/>
            <a:ext cx="16535400" cy="1323439"/>
          </a:xfrm>
          <a:prstGeom prst="rect">
            <a:avLst/>
          </a:prstGeom>
          <a:noFill/>
        </p:spPr>
        <p:txBody>
          <a:bodyPr wrap="square" rtlCol="0">
            <a:spAutoFit/>
          </a:bodyPr>
          <a:lstStyle/>
          <a:p>
            <a:r>
              <a:rPr lang="en-US" sz="8000" b="1" dirty="0">
                <a:latin typeface="Times New Roman" panose="02020603050405020304" pitchFamily="18" charset="0"/>
                <a:cs typeface="Times New Roman" panose="02020603050405020304" pitchFamily="18" charset="0"/>
              </a:rPr>
              <a:t>Methodology </a:t>
            </a:r>
            <a:r>
              <a:rPr lang="en-US" sz="4400" i="1" dirty="0">
                <a:latin typeface="Times New Roman" panose="02020603050405020304" pitchFamily="18" charset="0"/>
                <a:cs typeface="Times New Roman" panose="02020603050405020304" pitchFamily="18" charset="0"/>
              </a:rPr>
              <a:t>(U-Net with EfficeintNetB0)</a:t>
            </a:r>
            <a:endParaRPr lang="en-IN" sz="4400" i="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6A13EE1-1916-557F-BF20-E58AD3401C89}"/>
              </a:ext>
            </a:extLst>
          </p:cNvPr>
          <p:cNvSpPr txBox="1"/>
          <p:nvPr/>
        </p:nvSpPr>
        <p:spPr>
          <a:xfrm>
            <a:off x="13487400" y="9715500"/>
            <a:ext cx="3810000" cy="366714"/>
          </a:xfrm>
          <a:prstGeom prst="rect">
            <a:avLst/>
          </a:prstGeom>
          <a:noFill/>
        </p:spPr>
        <p:txBody>
          <a:bodyPr wrap="square" rtlCol="0">
            <a:spAutoFit/>
          </a:bodyPr>
          <a:lstStyle/>
          <a:p>
            <a:r>
              <a:rPr lang="en-US" b="1" dirty="0"/>
              <a:t>Figure by: Vilakshan Saini</a:t>
            </a:r>
            <a:endParaRPr lang="en-IN" b="1" dirty="0"/>
          </a:p>
        </p:txBody>
      </p:sp>
    </p:spTree>
    <p:extLst>
      <p:ext uri="{BB962C8B-B14F-4D97-AF65-F5344CB8AC3E}">
        <p14:creationId xmlns:p14="http://schemas.microsoft.com/office/powerpoint/2010/main" val="1983383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8BBECF0-B56B-EF92-1152-51447533F89D}"/>
              </a:ext>
            </a:extLst>
          </p:cNvPr>
          <p:cNvSpPr>
            <a:spLocks noGrp="1"/>
          </p:cNvSpPr>
          <p:nvPr>
            <p:ph type="ftr" sz="quarter" idx="11"/>
          </p:nvPr>
        </p:nvSpPr>
        <p:spPr/>
        <p:txBody>
          <a:bodyPr/>
          <a:lstStyle/>
          <a:p>
            <a:pPr defTabSz="1371600"/>
            <a:r>
              <a:rPr lang="en-US" sz="1900" b="1" dirty="0">
                <a:solidFill>
                  <a:srgbClr val="002060"/>
                </a:solidFill>
              </a:rPr>
              <a:t>Made By : SHIKHAR SINGH</a:t>
            </a:r>
          </a:p>
        </p:txBody>
      </p:sp>
      <p:pic>
        <p:nvPicPr>
          <p:cNvPr id="4" name="Picture 3">
            <a:extLst>
              <a:ext uri="{FF2B5EF4-FFF2-40B4-BE49-F238E27FC236}">
                <a16:creationId xmlns:a16="http://schemas.microsoft.com/office/drawing/2014/main" id="{2053E42B-B2F6-47FB-9C8D-272DD6353F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900" y="1638300"/>
            <a:ext cx="16840200" cy="7945212"/>
          </a:xfrm>
          <a:prstGeom prst="rect">
            <a:avLst/>
          </a:prstGeom>
        </p:spPr>
      </p:pic>
      <p:sp>
        <p:nvSpPr>
          <p:cNvPr id="6" name="Rectangle 5">
            <a:extLst>
              <a:ext uri="{FF2B5EF4-FFF2-40B4-BE49-F238E27FC236}">
                <a16:creationId xmlns:a16="http://schemas.microsoft.com/office/drawing/2014/main" id="{9FB5FED4-C15E-D5A1-B28C-141E7C3830AD}"/>
              </a:ext>
            </a:extLst>
          </p:cNvPr>
          <p:cNvSpPr/>
          <p:nvPr/>
        </p:nvSpPr>
        <p:spPr>
          <a:xfrm>
            <a:off x="5791200" y="1638300"/>
            <a:ext cx="670560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3B37FE04-1C09-08A2-54C7-368A5B9AD916}"/>
              </a:ext>
            </a:extLst>
          </p:cNvPr>
          <p:cNvSpPr txBox="1"/>
          <p:nvPr/>
        </p:nvSpPr>
        <p:spPr>
          <a:xfrm>
            <a:off x="228600" y="164504"/>
            <a:ext cx="16535400" cy="1323439"/>
          </a:xfrm>
          <a:prstGeom prst="rect">
            <a:avLst/>
          </a:prstGeom>
          <a:noFill/>
        </p:spPr>
        <p:txBody>
          <a:bodyPr wrap="square" rtlCol="0">
            <a:spAutoFit/>
          </a:bodyPr>
          <a:lstStyle/>
          <a:p>
            <a:r>
              <a:rPr lang="en-US" sz="8000" b="1" dirty="0">
                <a:latin typeface="Times New Roman" panose="02020603050405020304" pitchFamily="18" charset="0"/>
                <a:cs typeface="Times New Roman" panose="02020603050405020304" pitchFamily="18" charset="0"/>
              </a:rPr>
              <a:t>Methodology </a:t>
            </a:r>
            <a:r>
              <a:rPr lang="en-US" sz="4400" i="1" dirty="0">
                <a:latin typeface="Times New Roman" panose="02020603050405020304" pitchFamily="18" charset="0"/>
                <a:cs typeface="Times New Roman" panose="02020603050405020304" pitchFamily="18" charset="0"/>
              </a:rPr>
              <a:t>(U-Net with ResNet-50)</a:t>
            </a:r>
            <a:endParaRPr lang="en-IN" sz="4400" i="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D8FAF53-13F2-EAAE-AD8A-07CFC832C54B}"/>
              </a:ext>
            </a:extLst>
          </p:cNvPr>
          <p:cNvSpPr txBox="1"/>
          <p:nvPr/>
        </p:nvSpPr>
        <p:spPr>
          <a:xfrm>
            <a:off x="13487400" y="9715500"/>
            <a:ext cx="3810000" cy="366714"/>
          </a:xfrm>
          <a:prstGeom prst="rect">
            <a:avLst/>
          </a:prstGeom>
          <a:noFill/>
        </p:spPr>
        <p:txBody>
          <a:bodyPr wrap="square" rtlCol="0">
            <a:spAutoFit/>
          </a:bodyPr>
          <a:lstStyle/>
          <a:p>
            <a:r>
              <a:rPr lang="en-US" b="1" dirty="0"/>
              <a:t>Figure by: Vilakshan Saini</a:t>
            </a:r>
            <a:endParaRPr lang="en-IN" b="1" dirty="0"/>
          </a:p>
        </p:txBody>
      </p:sp>
    </p:spTree>
    <p:extLst>
      <p:ext uri="{BB962C8B-B14F-4D97-AF65-F5344CB8AC3E}">
        <p14:creationId xmlns:p14="http://schemas.microsoft.com/office/powerpoint/2010/main" val="2606448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3"/>
          <p:cNvSpPr txBox="1"/>
          <p:nvPr/>
        </p:nvSpPr>
        <p:spPr>
          <a:xfrm>
            <a:off x="752494" y="400050"/>
            <a:ext cx="13684543" cy="1238250"/>
          </a:xfrm>
          <a:prstGeom prst="rect">
            <a:avLst/>
          </a:prstGeom>
        </p:spPr>
        <p:txBody>
          <a:bodyPr lIns="0" tIns="0" rIns="0" bIns="0" rtlCol="0" anchor="t">
            <a:spAutoFit/>
          </a:bodyPr>
          <a:lstStyle/>
          <a:p>
            <a:pPr algn="l">
              <a:lnSpc>
                <a:spcPts val="9600"/>
              </a:lnSpc>
            </a:pPr>
            <a:r>
              <a:rPr lang="en-US" sz="8000" b="1" spc="-504" dirty="0">
                <a:solidFill>
                  <a:srgbClr val="272727"/>
                </a:solidFill>
                <a:latin typeface="Times New Roman" panose="02020603050405020304" pitchFamily="18" charset="0"/>
                <a:ea typeface="Public Sans Bold"/>
                <a:cs typeface="Times New Roman" panose="02020603050405020304" pitchFamily="18" charset="0"/>
                <a:sym typeface="Public Sans Bold"/>
              </a:rPr>
              <a:t>Results</a:t>
            </a:r>
          </a:p>
        </p:txBody>
      </p:sp>
      <p:sp>
        <p:nvSpPr>
          <p:cNvPr id="2" name="TextBox 1">
            <a:extLst>
              <a:ext uri="{FF2B5EF4-FFF2-40B4-BE49-F238E27FC236}">
                <a16:creationId xmlns:a16="http://schemas.microsoft.com/office/drawing/2014/main" id="{7465BD79-8B5A-1CAB-78B0-5FFE7A1EE447}"/>
              </a:ext>
            </a:extLst>
          </p:cNvPr>
          <p:cNvSpPr txBox="1"/>
          <p:nvPr/>
        </p:nvSpPr>
        <p:spPr>
          <a:xfrm>
            <a:off x="9152467" y="9671506"/>
            <a:ext cx="12497213" cy="430887"/>
          </a:xfrm>
          <a:prstGeom prst="rect">
            <a:avLst/>
          </a:prstGeom>
        </p:spPr>
        <p:txBody>
          <a:bodyPr wrap="square" lIns="0" tIns="0" rIns="0" bIns="0" rtlCol="0" anchor="t">
            <a:spAutoFit/>
          </a:bodyPr>
          <a:lstStyle/>
          <a:p>
            <a:pPr algn="just"/>
            <a:r>
              <a:rPr lang="en-US" sz="2800" dirty="0">
                <a:latin typeface="Times New Roman" panose="02020603050405020304" pitchFamily="18" charset="0"/>
                <a:cs typeface="Times New Roman" panose="02020603050405020304" pitchFamily="18" charset="0"/>
              </a:rPr>
              <a:t>*IoU (Intersection over Union) as primary evaluation metric</a:t>
            </a:r>
          </a:p>
        </p:txBody>
      </p:sp>
      <p:graphicFrame>
        <p:nvGraphicFramePr>
          <p:cNvPr id="5" name="Table 4">
            <a:extLst>
              <a:ext uri="{FF2B5EF4-FFF2-40B4-BE49-F238E27FC236}">
                <a16:creationId xmlns:a16="http://schemas.microsoft.com/office/drawing/2014/main" id="{49154FA4-B0ED-6CFD-5157-B88065451DC6}"/>
              </a:ext>
            </a:extLst>
          </p:cNvPr>
          <p:cNvGraphicFramePr>
            <a:graphicFrameLocks noGrp="1"/>
          </p:cNvGraphicFramePr>
          <p:nvPr>
            <p:extLst>
              <p:ext uri="{D42A27DB-BD31-4B8C-83A1-F6EECF244321}">
                <p14:modId xmlns:p14="http://schemas.microsoft.com/office/powerpoint/2010/main" val="4104240823"/>
              </p:ext>
            </p:extLst>
          </p:nvPr>
        </p:nvGraphicFramePr>
        <p:xfrm>
          <a:off x="304800" y="2019300"/>
          <a:ext cx="17754597" cy="7238998"/>
        </p:xfrm>
        <a:graphic>
          <a:graphicData uri="http://schemas.openxmlformats.org/drawingml/2006/table">
            <a:tbl>
              <a:tblPr>
                <a:tableStyleId>{616DA210-FB5B-4158-B5E0-FEB733F419BA}</a:tableStyleId>
              </a:tblPr>
              <a:tblGrid>
                <a:gridCol w="2549862">
                  <a:extLst>
                    <a:ext uri="{9D8B030D-6E8A-4147-A177-3AD203B41FA5}">
                      <a16:colId xmlns:a16="http://schemas.microsoft.com/office/drawing/2014/main" val="735817133"/>
                    </a:ext>
                  </a:extLst>
                </a:gridCol>
                <a:gridCol w="2172105">
                  <a:extLst>
                    <a:ext uri="{9D8B030D-6E8A-4147-A177-3AD203B41FA5}">
                      <a16:colId xmlns:a16="http://schemas.microsoft.com/office/drawing/2014/main" val="956366803"/>
                    </a:ext>
                  </a:extLst>
                </a:gridCol>
                <a:gridCol w="2172105">
                  <a:extLst>
                    <a:ext uri="{9D8B030D-6E8A-4147-A177-3AD203B41FA5}">
                      <a16:colId xmlns:a16="http://schemas.microsoft.com/office/drawing/2014/main" val="659604014"/>
                    </a:ext>
                  </a:extLst>
                </a:gridCol>
                <a:gridCol w="2172105">
                  <a:extLst>
                    <a:ext uri="{9D8B030D-6E8A-4147-A177-3AD203B41FA5}">
                      <a16:colId xmlns:a16="http://schemas.microsoft.com/office/drawing/2014/main" val="2961094212"/>
                    </a:ext>
                  </a:extLst>
                </a:gridCol>
                <a:gridCol w="2172105">
                  <a:extLst>
                    <a:ext uri="{9D8B030D-6E8A-4147-A177-3AD203B41FA5}">
                      <a16:colId xmlns:a16="http://schemas.microsoft.com/office/drawing/2014/main" val="1871041984"/>
                    </a:ext>
                  </a:extLst>
                </a:gridCol>
                <a:gridCol w="2172105">
                  <a:extLst>
                    <a:ext uri="{9D8B030D-6E8A-4147-A177-3AD203B41FA5}">
                      <a16:colId xmlns:a16="http://schemas.microsoft.com/office/drawing/2014/main" val="1600342709"/>
                    </a:ext>
                  </a:extLst>
                </a:gridCol>
                <a:gridCol w="2172105">
                  <a:extLst>
                    <a:ext uri="{9D8B030D-6E8A-4147-A177-3AD203B41FA5}">
                      <a16:colId xmlns:a16="http://schemas.microsoft.com/office/drawing/2014/main" val="2348530018"/>
                    </a:ext>
                  </a:extLst>
                </a:gridCol>
                <a:gridCol w="2172105">
                  <a:extLst>
                    <a:ext uri="{9D8B030D-6E8A-4147-A177-3AD203B41FA5}">
                      <a16:colId xmlns:a16="http://schemas.microsoft.com/office/drawing/2014/main" val="581456818"/>
                    </a:ext>
                  </a:extLst>
                </a:gridCol>
              </a:tblGrid>
              <a:tr h="1304324">
                <a:tc>
                  <a:txBody>
                    <a:bodyPr/>
                    <a:lstStyle/>
                    <a:p>
                      <a:r>
                        <a:rPr lang="en-IN" sz="3000" b="1" i="1" dirty="0"/>
                        <a:t>Model</a:t>
                      </a:r>
                    </a:p>
                  </a:txBody>
                  <a:tcPr anchor="ctr">
                    <a:solidFill>
                      <a:srgbClr val="FFC6C6"/>
                    </a:solidFill>
                  </a:tcPr>
                </a:tc>
                <a:tc>
                  <a:txBody>
                    <a:bodyPr/>
                    <a:lstStyle/>
                    <a:p>
                      <a:r>
                        <a:rPr lang="en-IN" sz="3000" b="1" i="1"/>
                        <a:t>Backbone</a:t>
                      </a:r>
                    </a:p>
                  </a:txBody>
                  <a:tcPr anchor="ctr">
                    <a:solidFill>
                      <a:srgbClr val="FFC6C6"/>
                    </a:solidFill>
                  </a:tcPr>
                </a:tc>
                <a:tc>
                  <a:txBody>
                    <a:bodyPr/>
                    <a:lstStyle/>
                    <a:p>
                      <a:r>
                        <a:rPr lang="en-IN" sz="3000" b="1" i="1" dirty="0"/>
                        <a:t>Loss Function</a:t>
                      </a:r>
                    </a:p>
                  </a:txBody>
                  <a:tcPr anchor="ctr">
                    <a:solidFill>
                      <a:srgbClr val="FFC6C6"/>
                    </a:solidFill>
                  </a:tcPr>
                </a:tc>
                <a:tc>
                  <a:txBody>
                    <a:bodyPr/>
                    <a:lstStyle/>
                    <a:p>
                      <a:r>
                        <a:rPr lang="en-IN" sz="3000" b="1" i="1" dirty="0"/>
                        <a:t>IoU</a:t>
                      </a:r>
                    </a:p>
                  </a:txBody>
                  <a:tcPr anchor="ctr">
                    <a:solidFill>
                      <a:srgbClr val="FFC6C6"/>
                    </a:solidFill>
                  </a:tcPr>
                </a:tc>
                <a:tc>
                  <a:txBody>
                    <a:bodyPr/>
                    <a:lstStyle/>
                    <a:p>
                      <a:r>
                        <a:rPr lang="en-IN" sz="3000" b="1" i="1"/>
                        <a:t>Dice Coeff</a:t>
                      </a:r>
                    </a:p>
                  </a:txBody>
                  <a:tcPr anchor="ctr">
                    <a:solidFill>
                      <a:srgbClr val="FFC6C6"/>
                    </a:solidFill>
                  </a:tcPr>
                </a:tc>
                <a:tc>
                  <a:txBody>
                    <a:bodyPr/>
                    <a:lstStyle/>
                    <a:p>
                      <a:r>
                        <a:rPr lang="en-IN" sz="3000" b="1" i="1"/>
                        <a:t>Accuracy</a:t>
                      </a:r>
                    </a:p>
                  </a:txBody>
                  <a:tcPr anchor="ctr">
                    <a:solidFill>
                      <a:srgbClr val="FFC6C6"/>
                    </a:solidFill>
                  </a:tcPr>
                </a:tc>
                <a:tc>
                  <a:txBody>
                    <a:bodyPr/>
                    <a:lstStyle/>
                    <a:p>
                      <a:r>
                        <a:rPr lang="en-IN" sz="3000" b="1" i="1"/>
                        <a:t>Precision</a:t>
                      </a:r>
                    </a:p>
                  </a:txBody>
                  <a:tcPr anchor="ctr">
                    <a:solidFill>
                      <a:srgbClr val="FFC6C6"/>
                    </a:solidFill>
                  </a:tcPr>
                </a:tc>
                <a:tc>
                  <a:txBody>
                    <a:bodyPr/>
                    <a:lstStyle/>
                    <a:p>
                      <a:r>
                        <a:rPr lang="en-IN" sz="3000" b="1" i="1" dirty="0"/>
                        <a:t>Recall</a:t>
                      </a:r>
                    </a:p>
                  </a:txBody>
                  <a:tcPr anchor="ctr">
                    <a:solidFill>
                      <a:srgbClr val="FFC6C6"/>
                    </a:solidFill>
                  </a:tcPr>
                </a:tc>
                <a:extLst>
                  <a:ext uri="{0D108BD9-81ED-4DB2-BD59-A6C34878D82A}">
                    <a16:rowId xmlns:a16="http://schemas.microsoft.com/office/drawing/2014/main" val="927658292"/>
                  </a:ext>
                </a:extLst>
              </a:tr>
              <a:tr h="1304324">
                <a:tc>
                  <a:txBody>
                    <a:bodyPr/>
                    <a:lstStyle/>
                    <a:p>
                      <a:r>
                        <a:rPr lang="en-IN" dirty="0"/>
                        <a:t>DeepLabV3+</a:t>
                      </a:r>
                    </a:p>
                  </a:txBody>
                  <a:tcPr anchor="ctr"/>
                </a:tc>
                <a:tc>
                  <a:txBody>
                    <a:bodyPr/>
                    <a:lstStyle/>
                    <a:p>
                      <a:r>
                        <a:rPr lang="en-IN" dirty="0"/>
                        <a:t>ResNet50</a:t>
                      </a:r>
                    </a:p>
                  </a:txBody>
                  <a:tcPr anchor="ctr"/>
                </a:tc>
                <a:tc>
                  <a:txBody>
                    <a:bodyPr/>
                    <a:lstStyle/>
                    <a:p>
                      <a:r>
                        <a:rPr lang="en-IN" dirty="0"/>
                        <a:t>Cross Entropy</a:t>
                      </a:r>
                    </a:p>
                  </a:txBody>
                  <a:tcPr anchor="ctr"/>
                </a:tc>
                <a:tc>
                  <a:txBody>
                    <a:bodyPr/>
                    <a:lstStyle/>
                    <a:p>
                      <a:r>
                        <a:rPr lang="en-IN" dirty="0">
                          <a:solidFill>
                            <a:srgbClr val="7030A0"/>
                          </a:solidFill>
                        </a:rPr>
                        <a:t>0.6609</a:t>
                      </a:r>
                    </a:p>
                  </a:txBody>
                  <a:tcPr anchor="ctr"/>
                </a:tc>
                <a:tc>
                  <a:txBody>
                    <a:bodyPr/>
                    <a:lstStyle/>
                    <a:p>
                      <a:r>
                        <a:rPr lang="en-IN" dirty="0"/>
                        <a:t>0.7332</a:t>
                      </a:r>
                    </a:p>
                  </a:txBody>
                  <a:tcPr anchor="ctr"/>
                </a:tc>
                <a:tc>
                  <a:txBody>
                    <a:bodyPr/>
                    <a:lstStyle/>
                    <a:p>
                      <a:r>
                        <a:rPr lang="en-IN"/>
                        <a:t>0.9004</a:t>
                      </a:r>
                    </a:p>
                  </a:txBody>
                  <a:tcPr anchor="ctr"/>
                </a:tc>
                <a:tc>
                  <a:txBody>
                    <a:bodyPr/>
                    <a:lstStyle/>
                    <a:p>
                      <a:r>
                        <a:rPr lang="en-IN"/>
                        <a:t>0.9336</a:t>
                      </a:r>
                    </a:p>
                  </a:txBody>
                  <a:tcPr anchor="ctr"/>
                </a:tc>
                <a:tc>
                  <a:txBody>
                    <a:bodyPr/>
                    <a:lstStyle/>
                    <a:p>
                      <a:r>
                        <a:rPr lang="en-IN" dirty="0"/>
                        <a:t>0.7126</a:t>
                      </a:r>
                    </a:p>
                  </a:txBody>
                  <a:tcPr anchor="ctr"/>
                </a:tc>
                <a:extLst>
                  <a:ext uri="{0D108BD9-81ED-4DB2-BD59-A6C34878D82A}">
                    <a16:rowId xmlns:a16="http://schemas.microsoft.com/office/drawing/2014/main" val="848317529"/>
                  </a:ext>
                </a:extLst>
              </a:tr>
              <a:tr h="717378">
                <a:tc>
                  <a:txBody>
                    <a:bodyPr/>
                    <a:lstStyle/>
                    <a:p>
                      <a:r>
                        <a:rPr lang="en-IN" b="1" dirty="0">
                          <a:solidFill>
                            <a:schemeClr val="accent2">
                              <a:lumMod val="50000"/>
                            </a:schemeClr>
                          </a:solidFill>
                        </a:rPr>
                        <a:t>DeepLabV3+</a:t>
                      </a:r>
                    </a:p>
                  </a:txBody>
                  <a:tcPr anchor="ctr"/>
                </a:tc>
                <a:tc>
                  <a:txBody>
                    <a:bodyPr/>
                    <a:lstStyle/>
                    <a:p>
                      <a:r>
                        <a:rPr lang="en-IN" b="1">
                          <a:solidFill>
                            <a:schemeClr val="accent2">
                              <a:lumMod val="50000"/>
                            </a:schemeClr>
                          </a:solidFill>
                        </a:rPr>
                        <a:t>ResNet50</a:t>
                      </a:r>
                    </a:p>
                  </a:txBody>
                  <a:tcPr anchor="ctr"/>
                </a:tc>
                <a:tc>
                  <a:txBody>
                    <a:bodyPr/>
                    <a:lstStyle/>
                    <a:p>
                      <a:r>
                        <a:rPr lang="en-IN" b="1" dirty="0">
                          <a:solidFill>
                            <a:schemeClr val="accent2">
                              <a:lumMod val="50000"/>
                            </a:schemeClr>
                          </a:solidFill>
                        </a:rPr>
                        <a:t>Dice Loss</a:t>
                      </a:r>
                    </a:p>
                  </a:txBody>
                  <a:tcPr anchor="ctr"/>
                </a:tc>
                <a:tc>
                  <a:txBody>
                    <a:bodyPr/>
                    <a:lstStyle/>
                    <a:p>
                      <a:r>
                        <a:rPr lang="en-IN" b="1" dirty="0">
                          <a:solidFill>
                            <a:srgbClr val="7030A0"/>
                          </a:solidFill>
                        </a:rPr>
                        <a:t>0.7469</a:t>
                      </a:r>
                    </a:p>
                  </a:txBody>
                  <a:tcPr anchor="ctr"/>
                </a:tc>
                <a:tc>
                  <a:txBody>
                    <a:bodyPr/>
                    <a:lstStyle/>
                    <a:p>
                      <a:r>
                        <a:rPr lang="en-IN" b="1">
                          <a:solidFill>
                            <a:schemeClr val="accent2">
                              <a:lumMod val="50000"/>
                            </a:schemeClr>
                          </a:solidFill>
                        </a:rPr>
                        <a:t>0.8261</a:t>
                      </a:r>
                    </a:p>
                  </a:txBody>
                  <a:tcPr anchor="ctr"/>
                </a:tc>
                <a:tc>
                  <a:txBody>
                    <a:bodyPr/>
                    <a:lstStyle/>
                    <a:p>
                      <a:r>
                        <a:rPr lang="en-IN" b="1" dirty="0">
                          <a:solidFill>
                            <a:schemeClr val="accent2">
                              <a:lumMod val="50000"/>
                            </a:schemeClr>
                          </a:solidFill>
                        </a:rPr>
                        <a:t>0.8188</a:t>
                      </a:r>
                    </a:p>
                  </a:txBody>
                  <a:tcPr anchor="ctr"/>
                </a:tc>
                <a:tc>
                  <a:txBody>
                    <a:bodyPr/>
                    <a:lstStyle/>
                    <a:p>
                      <a:r>
                        <a:rPr lang="en-IN" b="1">
                          <a:solidFill>
                            <a:schemeClr val="accent2">
                              <a:lumMod val="50000"/>
                            </a:schemeClr>
                          </a:solidFill>
                        </a:rPr>
                        <a:t>0.8154</a:t>
                      </a:r>
                    </a:p>
                  </a:txBody>
                  <a:tcPr anchor="ctr"/>
                </a:tc>
                <a:tc>
                  <a:txBody>
                    <a:bodyPr/>
                    <a:lstStyle/>
                    <a:p>
                      <a:r>
                        <a:rPr lang="en-IN" b="1" dirty="0">
                          <a:solidFill>
                            <a:schemeClr val="accent2">
                              <a:lumMod val="50000"/>
                            </a:schemeClr>
                          </a:solidFill>
                        </a:rPr>
                        <a:t>0.7752</a:t>
                      </a:r>
                    </a:p>
                  </a:txBody>
                  <a:tcPr anchor="ctr"/>
                </a:tc>
                <a:extLst>
                  <a:ext uri="{0D108BD9-81ED-4DB2-BD59-A6C34878D82A}">
                    <a16:rowId xmlns:a16="http://schemas.microsoft.com/office/drawing/2014/main" val="2390808406"/>
                  </a:ext>
                </a:extLst>
              </a:tr>
              <a:tr h="1304324">
                <a:tc>
                  <a:txBody>
                    <a:bodyPr/>
                    <a:lstStyle/>
                    <a:p>
                      <a:r>
                        <a:rPr lang="en-IN"/>
                        <a:t>U-Net</a:t>
                      </a:r>
                    </a:p>
                  </a:txBody>
                  <a:tcPr anchor="ctr"/>
                </a:tc>
                <a:tc>
                  <a:txBody>
                    <a:bodyPr/>
                    <a:lstStyle/>
                    <a:p>
                      <a:r>
                        <a:rPr lang="en-IN"/>
                        <a:t>EfficientNetB0</a:t>
                      </a:r>
                    </a:p>
                  </a:txBody>
                  <a:tcPr anchor="ctr"/>
                </a:tc>
                <a:tc>
                  <a:txBody>
                    <a:bodyPr/>
                    <a:lstStyle/>
                    <a:p>
                      <a:r>
                        <a:rPr lang="en-IN" dirty="0"/>
                        <a:t>CrossEntropy</a:t>
                      </a:r>
                    </a:p>
                  </a:txBody>
                  <a:tcPr anchor="ctr"/>
                </a:tc>
                <a:tc>
                  <a:txBody>
                    <a:bodyPr/>
                    <a:lstStyle/>
                    <a:p>
                      <a:r>
                        <a:rPr lang="en-IN" dirty="0">
                          <a:solidFill>
                            <a:srgbClr val="7030A0"/>
                          </a:solidFill>
                        </a:rPr>
                        <a:t>0.4071</a:t>
                      </a:r>
                    </a:p>
                  </a:txBody>
                  <a:tcPr anchor="ctr"/>
                </a:tc>
                <a:tc>
                  <a:txBody>
                    <a:bodyPr/>
                    <a:lstStyle/>
                    <a:p>
                      <a:r>
                        <a:rPr lang="en-IN"/>
                        <a:t>0.5594</a:t>
                      </a:r>
                    </a:p>
                  </a:txBody>
                  <a:tcPr anchor="ctr"/>
                </a:tc>
                <a:tc>
                  <a:txBody>
                    <a:bodyPr/>
                    <a:lstStyle/>
                    <a:p>
                      <a:r>
                        <a:rPr lang="en-IN"/>
                        <a:t>0.9878</a:t>
                      </a:r>
                    </a:p>
                  </a:txBody>
                  <a:tcPr anchor="ctr"/>
                </a:tc>
                <a:tc>
                  <a:txBody>
                    <a:bodyPr/>
                    <a:lstStyle/>
                    <a:p>
                      <a:r>
                        <a:rPr lang="en-IN"/>
                        <a:t>0.7205</a:t>
                      </a:r>
                    </a:p>
                  </a:txBody>
                  <a:tcPr anchor="ctr"/>
                </a:tc>
                <a:tc>
                  <a:txBody>
                    <a:bodyPr/>
                    <a:lstStyle/>
                    <a:p>
                      <a:r>
                        <a:rPr lang="en-IN" dirty="0"/>
                        <a:t>0.7344</a:t>
                      </a:r>
                    </a:p>
                  </a:txBody>
                  <a:tcPr anchor="ctr"/>
                </a:tc>
                <a:extLst>
                  <a:ext uri="{0D108BD9-81ED-4DB2-BD59-A6C34878D82A}">
                    <a16:rowId xmlns:a16="http://schemas.microsoft.com/office/drawing/2014/main" val="3219368813"/>
                  </a:ext>
                </a:extLst>
              </a:tr>
              <a:tr h="1304324">
                <a:tc>
                  <a:txBody>
                    <a:bodyPr/>
                    <a:lstStyle/>
                    <a:p>
                      <a:r>
                        <a:rPr lang="en-IN"/>
                        <a:t>U-Net</a:t>
                      </a:r>
                    </a:p>
                  </a:txBody>
                  <a:tcPr anchor="ctr"/>
                </a:tc>
                <a:tc>
                  <a:txBody>
                    <a:bodyPr/>
                    <a:lstStyle/>
                    <a:p>
                      <a:r>
                        <a:rPr lang="en-IN"/>
                        <a:t>ResNet50</a:t>
                      </a:r>
                    </a:p>
                  </a:txBody>
                  <a:tcPr anchor="ctr"/>
                </a:tc>
                <a:tc>
                  <a:txBody>
                    <a:bodyPr/>
                    <a:lstStyle/>
                    <a:p>
                      <a:r>
                        <a:rPr lang="en-IN" dirty="0"/>
                        <a:t>CrossEntropy</a:t>
                      </a:r>
                    </a:p>
                  </a:txBody>
                  <a:tcPr anchor="ctr"/>
                </a:tc>
                <a:tc>
                  <a:txBody>
                    <a:bodyPr/>
                    <a:lstStyle/>
                    <a:p>
                      <a:r>
                        <a:rPr lang="en-IN" dirty="0">
                          <a:solidFill>
                            <a:srgbClr val="7030A0"/>
                          </a:solidFill>
                        </a:rPr>
                        <a:t>0.5860</a:t>
                      </a:r>
                    </a:p>
                  </a:txBody>
                  <a:tcPr anchor="ctr"/>
                </a:tc>
                <a:tc>
                  <a:txBody>
                    <a:bodyPr/>
                    <a:lstStyle/>
                    <a:p>
                      <a:r>
                        <a:rPr lang="en-IN"/>
                        <a:t>0.7582</a:t>
                      </a:r>
                    </a:p>
                  </a:txBody>
                  <a:tcPr anchor="ctr"/>
                </a:tc>
                <a:tc>
                  <a:txBody>
                    <a:bodyPr/>
                    <a:lstStyle/>
                    <a:p>
                      <a:r>
                        <a:rPr lang="en-IN"/>
                        <a:t>0.9025</a:t>
                      </a:r>
                    </a:p>
                  </a:txBody>
                  <a:tcPr anchor="ctr"/>
                </a:tc>
                <a:tc>
                  <a:txBody>
                    <a:bodyPr/>
                    <a:lstStyle/>
                    <a:p>
                      <a:r>
                        <a:rPr lang="en-IN"/>
                        <a:t>0.8604</a:t>
                      </a:r>
                    </a:p>
                  </a:txBody>
                  <a:tcPr anchor="ctr"/>
                </a:tc>
                <a:tc>
                  <a:txBody>
                    <a:bodyPr/>
                    <a:lstStyle/>
                    <a:p>
                      <a:r>
                        <a:rPr lang="en-IN"/>
                        <a:t>0.7635</a:t>
                      </a:r>
                    </a:p>
                  </a:txBody>
                  <a:tcPr anchor="ctr"/>
                </a:tc>
                <a:extLst>
                  <a:ext uri="{0D108BD9-81ED-4DB2-BD59-A6C34878D82A}">
                    <a16:rowId xmlns:a16="http://schemas.microsoft.com/office/drawing/2014/main" val="4083756669"/>
                  </a:ext>
                </a:extLst>
              </a:tr>
              <a:tr h="1304324">
                <a:tc>
                  <a:txBody>
                    <a:bodyPr/>
                    <a:lstStyle/>
                    <a:p>
                      <a:r>
                        <a:rPr lang="en-IN"/>
                        <a:t>U-Net</a:t>
                      </a:r>
                    </a:p>
                  </a:txBody>
                  <a:tcPr anchor="ctr"/>
                </a:tc>
                <a:tc>
                  <a:txBody>
                    <a:bodyPr/>
                    <a:lstStyle/>
                    <a:p>
                      <a:r>
                        <a:rPr lang="en-IN"/>
                        <a:t>None</a:t>
                      </a:r>
                    </a:p>
                  </a:txBody>
                  <a:tcPr anchor="ctr"/>
                </a:tc>
                <a:tc>
                  <a:txBody>
                    <a:bodyPr/>
                    <a:lstStyle/>
                    <a:p>
                      <a:r>
                        <a:rPr lang="en-IN" dirty="0"/>
                        <a:t>CrossEntropy</a:t>
                      </a:r>
                    </a:p>
                  </a:txBody>
                  <a:tcPr anchor="ctr"/>
                </a:tc>
                <a:tc>
                  <a:txBody>
                    <a:bodyPr/>
                    <a:lstStyle/>
                    <a:p>
                      <a:r>
                        <a:rPr lang="en-IN" dirty="0">
                          <a:solidFill>
                            <a:srgbClr val="7030A0"/>
                          </a:solidFill>
                        </a:rPr>
                        <a:t>0.7330</a:t>
                      </a:r>
                    </a:p>
                  </a:txBody>
                  <a:tcPr anchor="ctr"/>
                </a:tc>
                <a:tc>
                  <a:txBody>
                    <a:bodyPr/>
                    <a:lstStyle/>
                    <a:p>
                      <a:r>
                        <a:rPr lang="en-IN"/>
                        <a:t>0.8439</a:t>
                      </a:r>
                    </a:p>
                  </a:txBody>
                  <a:tcPr anchor="ctr"/>
                </a:tc>
                <a:tc>
                  <a:txBody>
                    <a:bodyPr/>
                    <a:lstStyle/>
                    <a:p>
                      <a:r>
                        <a:rPr lang="en-IN"/>
                        <a:t>0.9860</a:t>
                      </a:r>
                    </a:p>
                  </a:txBody>
                  <a:tcPr anchor="ctr"/>
                </a:tc>
                <a:tc>
                  <a:txBody>
                    <a:bodyPr/>
                    <a:lstStyle/>
                    <a:p>
                      <a:r>
                        <a:rPr lang="en-IN"/>
                        <a:t>0.9149</a:t>
                      </a:r>
                    </a:p>
                  </a:txBody>
                  <a:tcPr anchor="ctr"/>
                </a:tc>
                <a:tc>
                  <a:txBody>
                    <a:bodyPr/>
                    <a:lstStyle/>
                    <a:p>
                      <a:r>
                        <a:rPr lang="en-IN" dirty="0"/>
                        <a:t>0.8406</a:t>
                      </a:r>
                    </a:p>
                  </a:txBody>
                  <a:tcPr anchor="ctr"/>
                </a:tc>
                <a:extLst>
                  <a:ext uri="{0D108BD9-81ED-4DB2-BD59-A6C34878D82A}">
                    <a16:rowId xmlns:a16="http://schemas.microsoft.com/office/drawing/2014/main" val="397936469"/>
                  </a:ext>
                </a:extLst>
              </a:tr>
            </a:tbl>
          </a:graphicData>
        </a:graphic>
      </p:graphicFrame>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A6AEE84B-5C37-FD01-3CD5-B589F34118B7}"/>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F786EC1F-7B61-508C-5AEB-307A30898187}"/>
              </a:ext>
            </a:extLst>
          </p:cNvPr>
          <p:cNvSpPr txBox="1"/>
          <p:nvPr/>
        </p:nvSpPr>
        <p:spPr>
          <a:xfrm>
            <a:off x="752494" y="400050"/>
            <a:ext cx="13684543" cy="1238250"/>
          </a:xfrm>
          <a:prstGeom prst="rect">
            <a:avLst/>
          </a:prstGeom>
        </p:spPr>
        <p:txBody>
          <a:bodyPr lIns="0" tIns="0" rIns="0" bIns="0" rtlCol="0" anchor="t">
            <a:spAutoFit/>
          </a:bodyPr>
          <a:lstStyle/>
          <a:p>
            <a:pPr>
              <a:lnSpc>
                <a:spcPts val="9600"/>
              </a:lnSpc>
            </a:pPr>
            <a:r>
              <a:rPr lang="en-US" sz="8000" b="1" spc="-504" dirty="0">
                <a:solidFill>
                  <a:srgbClr val="272727"/>
                </a:solidFill>
                <a:latin typeface="Times New Roman" panose="02020603050405020304" pitchFamily="18" charset="0"/>
                <a:ea typeface="Public Sans Bold"/>
                <a:cs typeface="Times New Roman" panose="02020603050405020304" pitchFamily="18" charset="0"/>
                <a:sym typeface="Public Sans Bold"/>
              </a:rPr>
              <a:t>Future work</a:t>
            </a:r>
          </a:p>
        </p:txBody>
      </p:sp>
      <p:sp>
        <p:nvSpPr>
          <p:cNvPr id="2" name="Rectangle 1"/>
          <p:cNvSpPr/>
          <p:nvPr/>
        </p:nvSpPr>
        <p:spPr>
          <a:xfrm>
            <a:off x="304800" y="1638300"/>
            <a:ext cx="17526000" cy="8710077"/>
          </a:xfrm>
          <a:prstGeom prst="rect">
            <a:avLst/>
          </a:prstGeom>
        </p:spPr>
        <p:txBody>
          <a:bodyPr wrap="square">
            <a:spAutoFit/>
          </a:bodyPr>
          <a:lstStyle/>
          <a:p>
            <a:pPr marL="800100" lvl="1" indent="-342900" algn="just" fontAlgn="base">
              <a:spcBef>
                <a:spcPct val="0"/>
              </a:spcBef>
              <a:spcAft>
                <a:spcPct val="0"/>
              </a:spcAft>
              <a:buFont typeface="Arial" panose="020B0604020202020204" pitchFamily="34" charset="0"/>
              <a:buChar char="•"/>
            </a:pPr>
            <a:r>
              <a:rPr lang="en-IN" sz="2800" b="1" dirty="0"/>
              <a:t>Multi-Modal &amp; Real-Time Data Fusion: </a:t>
            </a:r>
            <a:r>
              <a:rPr lang="en-US" sz="2800" dirty="0">
                <a:latin typeface="Times New Roman" panose="02020603050405020304" pitchFamily="18" charset="0"/>
                <a:cs typeface="Times New Roman" panose="02020603050405020304" pitchFamily="18" charset="0"/>
                <a:sym typeface="Body Grotesque"/>
              </a:rPr>
              <a:t>Fuse optical (Sentinel-2), SAR (Sentinel-1), DEMs, climate reanalysis, and IoT sensor data for all-weather, day-night monitoring</a:t>
            </a:r>
          </a:p>
          <a:p>
            <a:pPr marL="800100" lvl="1" indent="-342900" algn="just" fontAlgn="base">
              <a:spcBef>
                <a:spcPct val="0"/>
              </a:spcBef>
              <a:spcAft>
                <a:spcPct val="0"/>
              </a:spcAft>
              <a:buFont typeface="Arial" panose="020B0604020202020204" pitchFamily="34" charset="0"/>
              <a:buChar char="•"/>
            </a:pPr>
            <a:r>
              <a:rPr lang="en-US" sz="2800" b="1" dirty="0"/>
              <a:t>Scalable &amp; Transferable Framework: </a:t>
            </a:r>
            <a:r>
              <a:rPr lang="en-US" sz="2800" dirty="0"/>
              <a:t>Enable cross-region generalization, continuous model updates, and seamless integration with disaster management systems. </a:t>
            </a:r>
            <a:r>
              <a:rPr lang="en-US" altLang="LID4096" sz="2800" dirty="0">
                <a:latin typeface="Times New Roman" panose="02020603050405020304" pitchFamily="18" charset="0"/>
                <a:cs typeface="Times New Roman" panose="02020603050405020304" pitchFamily="18" charset="0"/>
              </a:rPr>
              <a:t>Future work will refine loss functions, boost segmentation accuracy, and ensure scalability for real-world impact.</a:t>
            </a:r>
          </a:p>
          <a:p>
            <a:pPr marL="800100" lvl="1" indent="-342900" algn="just" fontAlgn="base">
              <a:spcBef>
                <a:spcPct val="0"/>
              </a:spcBef>
              <a:spcAft>
                <a:spcPct val="0"/>
              </a:spcAft>
              <a:buFont typeface="Arial" panose="020B0604020202020204" pitchFamily="34" charset="0"/>
              <a:buChar char="•"/>
            </a:pPr>
            <a:r>
              <a:rPr lang="en-US" sz="2800" b="1" dirty="0"/>
              <a:t>Physics-Guided &amp; Confidence-Aware Alerts: </a:t>
            </a:r>
            <a:r>
              <a:rPr lang="en-US" sz="2800" dirty="0"/>
              <a:t>Embed glaciological and hydrodynamic constraints with uncertainty estimation to reduce false alarms and support risk-based decision-making.</a:t>
            </a:r>
          </a:p>
          <a:p>
            <a:pPr marL="800100" lvl="1" indent="-342900" algn="just" fontAlgn="base">
              <a:spcBef>
                <a:spcPct val="0"/>
              </a:spcBef>
              <a:spcAft>
                <a:spcPct val="0"/>
              </a:spcAft>
              <a:buFont typeface="Arial" panose="020B0604020202020204" pitchFamily="34" charset="0"/>
              <a:buChar char="•"/>
            </a:pPr>
            <a:r>
              <a:rPr lang="en-US" sz="2800" b="1" dirty="0"/>
              <a:t>Edge &amp; Low-Resource Deployment: </a:t>
            </a:r>
            <a:r>
              <a:rPr lang="en-US" sz="2800" dirty="0"/>
              <a:t>Optimize trained models for execution on edge devices and remote stations in data-scarce, infrastructure-limited regions.</a:t>
            </a:r>
          </a:p>
          <a:p>
            <a:pPr marL="800100" lvl="1" indent="-342900" algn="just" fontAlgn="base">
              <a:spcBef>
                <a:spcPct val="0"/>
              </a:spcBef>
              <a:spcAft>
                <a:spcPct val="0"/>
              </a:spcAft>
              <a:buFont typeface="Arial" panose="020B0604020202020204" pitchFamily="34" charset="0"/>
              <a:buChar char="•"/>
            </a:pPr>
            <a:r>
              <a:rPr lang="en-US" sz="2800" b="1" dirty="0"/>
              <a:t>Digital Twin of Glacial Lakes: </a:t>
            </a:r>
            <a:r>
              <a:rPr lang="en-US" sz="2800" dirty="0"/>
              <a:t>Create continuously updating digital replicas of critical lakes by combining satellite, IoT, and physics models to simulate breach scenarios in advance.</a:t>
            </a:r>
          </a:p>
          <a:p>
            <a:pPr marL="800100" lvl="1" indent="-342900" algn="just" fontAlgn="base">
              <a:spcBef>
                <a:spcPct val="0"/>
              </a:spcBef>
              <a:spcAft>
                <a:spcPct val="0"/>
              </a:spcAft>
              <a:buFont typeface="Arial" panose="020B0604020202020204" pitchFamily="34" charset="0"/>
              <a:buChar char="•"/>
            </a:pPr>
            <a:r>
              <a:rPr lang="en-US" sz="2800" b="1" dirty="0"/>
              <a:t>Learning Without Labels: </a:t>
            </a:r>
            <a:r>
              <a:rPr lang="en-US" sz="2800" dirty="0"/>
              <a:t>Employ self-supervised and zero-shot learning on massive historical satellite archives to overcome data scarcity and improve generalization across glacial regions.</a:t>
            </a:r>
          </a:p>
          <a:p>
            <a:pPr marL="800100" lvl="1" indent="-342900" algn="just" fontAlgn="base">
              <a:spcBef>
                <a:spcPct val="0"/>
              </a:spcBef>
              <a:spcAft>
                <a:spcPct val="0"/>
              </a:spcAft>
              <a:buFont typeface="Arial" panose="020B0604020202020204" pitchFamily="34" charset="0"/>
              <a:buChar char="•"/>
            </a:pPr>
            <a:r>
              <a:rPr lang="en-US" sz="2800" b="1" dirty="0"/>
              <a:t>Sentient Cryosphere Monitoring: </a:t>
            </a:r>
            <a:r>
              <a:rPr lang="en-US" sz="2800" dirty="0"/>
              <a:t>Transform glaciers from passive targets into self-aware systems where AI continuously “listens” to thermal, structural, and hydrodynamic signals to anticipate failure before visible change.</a:t>
            </a:r>
          </a:p>
          <a:p>
            <a:pPr marL="800100" lvl="1" indent="-342900" algn="just" fontAlgn="base">
              <a:spcBef>
                <a:spcPct val="0"/>
              </a:spcBef>
              <a:spcAft>
                <a:spcPct val="0"/>
              </a:spcAft>
              <a:buFont typeface="Arial" panose="020B0604020202020204" pitchFamily="34" charset="0"/>
              <a:buChar char="•"/>
            </a:pPr>
            <a:r>
              <a:rPr lang="en-US" sz="2800" b="1" dirty="0"/>
              <a:t>Autonomous Observation Orchestration: </a:t>
            </a:r>
            <a:r>
              <a:rPr lang="en-US" sz="2800" dirty="0"/>
              <a:t>Enable AI to autonomously decide </a:t>
            </a:r>
            <a:r>
              <a:rPr lang="en-US" sz="2800" i="1" dirty="0"/>
              <a:t>when, where, and how</a:t>
            </a:r>
            <a:r>
              <a:rPr lang="en-US" sz="2800" dirty="0"/>
              <a:t> to observe—dynamically tasking satellites, drones, and sensors based on evolving risk signatures.</a:t>
            </a:r>
            <a:endParaRPr lang="en-US" sz="2800" dirty="0">
              <a:latin typeface="Times New Roman" panose="02020603050405020304" pitchFamily="18" charset="0"/>
              <a:cs typeface="Times New Roman" panose="02020603050405020304" pitchFamily="18" charset="0"/>
              <a:sym typeface="Body Grotesque"/>
            </a:endParaRPr>
          </a:p>
          <a:p>
            <a:pPr marL="800100" lvl="1" indent="-342900" algn="just" fontAlgn="base">
              <a:spcBef>
                <a:spcPct val="0"/>
              </a:spcBef>
              <a:spcAft>
                <a:spcPct val="0"/>
              </a:spcAft>
              <a:buFont typeface="Arial" panose="020B0604020202020204" pitchFamily="34" charset="0"/>
              <a:buChar char="•"/>
            </a:pPr>
            <a:endParaRPr lang="en-US" sz="2800" dirty="0"/>
          </a:p>
          <a:p>
            <a:pPr marL="800100" lvl="1" indent="-342900" algn="just" fontAlgn="base">
              <a:spcBef>
                <a:spcPct val="0"/>
              </a:spcBef>
              <a:spcAft>
                <a:spcPct val="0"/>
              </a:spcAf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sym typeface="Body Grotesque"/>
            </a:endParaRPr>
          </a:p>
          <a:p>
            <a:pPr marL="800100" lvl="1" indent="-342900" algn="just" fontAlgn="base">
              <a:spcBef>
                <a:spcPct val="0"/>
              </a:spcBef>
              <a:spcAft>
                <a:spcPct val="0"/>
              </a:spcAf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sym typeface="Body Grotesque"/>
            </a:endParaRPr>
          </a:p>
        </p:txBody>
      </p:sp>
      <p:sp>
        <p:nvSpPr>
          <p:cNvPr id="4" name="Footer Placeholder 3">
            <a:extLst>
              <a:ext uri="{FF2B5EF4-FFF2-40B4-BE49-F238E27FC236}">
                <a16:creationId xmlns:a16="http://schemas.microsoft.com/office/drawing/2014/main" id="{7E3BDE68-D229-D06B-4BA2-45A79914BB23}"/>
              </a:ext>
            </a:extLst>
          </p:cNvPr>
          <p:cNvSpPr>
            <a:spLocks noGrp="1"/>
          </p:cNvSpPr>
          <p:nvPr>
            <p:ph type="ftr" sz="quarter" idx="11"/>
          </p:nvPr>
        </p:nvSpPr>
        <p:spPr/>
        <p:txBody>
          <a:bodyPr/>
          <a:lstStyle/>
          <a:p>
            <a:pPr defTabSz="1371600"/>
            <a:r>
              <a:rPr lang="en-US" sz="2000" b="1" dirty="0">
                <a:solidFill>
                  <a:srgbClr val="002060"/>
                </a:solidFill>
              </a:rPr>
              <a:t>Made By : SHIKHAR SINGH</a:t>
            </a:r>
          </a:p>
        </p:txBody>
      </p:sp>
    </p:spTree>
    <p:extLst>
      <p:ext uri="{BB962C8B-B14F-4D97-AF65-F5344CB8AC3E}">
        <p14:creationId xmlns:p14="http://schemas.microsoft.com/office/powerpoint/2010/main" val="3253734501"/>
      </p:ext>
    </p:extLst>
  </p:cSld>
  <p:clrMapOvr>
    <a:overrideClrMapping bg1="lt1" tx1="dk1" bg2="lt2" tx2="dk2" accent1="accent1" accent2="accent2" accent3="accent3" accent4="accent4" accent5="accent5" accent6="accent6" hlink="hlink" folHlink="folHlink"/>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3"/>
          <p:cNvSpPr txBox="1"/>
          <p:nvPr/>
        </p:nvSpPr>
        <p:spPr>
          <a:xfrm>
            <a:off x="752494" y="400050"/>
            <a:ext cx="13684543" cy="1238250"/>
          </a:xfrm>
          <a:prstGeom prst="rect">
            <a:avLst/>
          </a:prstGeom>
        </p:spPr>
        <p:txBody>
          <a:bodyPr lIns="0" tIns="0" rIns="0" bIns="0" rtlCol="0" anchor="t">
            <a:spAutoFit/>
          </a:bodyPr>
          <a:lstStyle/>
          <a:p>
            <a:pPr algn="l">
              <a:lnSpc>
                <a:spcPts val="9600"/>
              </a:lnSpc>
            </a:pPr>
            <a:r>
              <a:rPr lang="en-US" sz="8000" b="1" spc="-504" dirty="0">
                <a:solidFill>
                  <a:srgbClr val="272727"/>
                </a:solidFill>
                <a:latin typeface="Times New Roman" panose="02020603050405020304" pitchFamily="18" charset="0"/>
                <a:ea typeface="Public Sans Bold"/>
                <a:cs typeface="Times New Roman" panose="02020603050405020304" pitchFamily="18" charset="0"/>
                <a:sym typeface="Public Sans Bold"/>
              </a:rPr>
              <a:t>References</a:t>
            </a:r>
          </a:p>
        </p:txBody>
      </p:sp>
      <p:sp>
        <p:nvSpPr>
          <p:cNvPr id="4" name="TextBox 4"/>
          <p:cNvSpPr txBox="1"/>
          <p:nvPr/>
        </p:nvSpPr>
        <p:spPr>
          <a:xfrm>
            <a:off x="419100" y="1638300"/>
            <a:ext cx="17449800" cy="7792967"/>
          </a:xfrm>
          <a:prstGeom prst="rect">
            <a:avLst/>
          </a:prstGeom>
        </p:spPr>
        <p:txBody>
          <a:bodyPr wrap="square" lIns="0" tIns="0" rIns="0" bIns="0" rtlCol="0" anchor="t">
            <a:spAutoFit/>
          </a:bodyPr>
          <a:lstStyle/>
          <a:p>
            <a:pPr marL="342900" marR="0" lvl="0" indent="-342900" algn="just">
              <a:lnSpc>
                <a:spcPct val="115000"/>
              </a:lnSpc>
              <a:buFont typeface="+mj-lt"/>
              <a:buAutoNum type="arabicPeriod"/>
            </a:pPr>
            <a:r>
              <a:rPr lang="en-US" sz="2600" kern="100" dirty="0">
                <a:effectLst/>
                <a:latin typeface="Times New Roman" panose="02020603050405020304" pitchFamily="18" charset="0"/>
                <a:ea typeface="Calibri" panose="020F0502020204030204" pitchFamily="34" charset="0"/>
                <a:cs typeface="Mangal" panose="02040503050203030202" pitchFamily="18" charset="0"/>
              </a:rPr>
              <a:t>S. K. Allen et al., “Potentially dangerous glacial lakes across the Tibetan Plateau revealed using a large-scale automated assessment approach”, Sci. Bull., vol. 64, no. 7, pp. 435-445, 2019.</a:t>
            </a:r>
            <a:endParaRPr lang="en-IN" sz="26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15000"/>
              </a:lnSpc>
              <a:buFont typeface="+mj-lt"/>
              <a:buAutoNum type="arabicPeriod"/>
            </a:pPr>
            <a:r>
              <a:rPr lang="en-US" sz="2600" kern="100" dirty="0">
                <a:effectLst/>
                <a:latin typeface="Times New Roman" panose="02020603050405020304" pitchFamily="18" charset="0"/>
                <a:ea typeface="Calibri" panose="020F0502020204030204" pitchFamily="34" charset="0"/>
                <a:cs typeface="Mangal" panose="02040503050203030202" pitchFamily="18" charset="0"/>
              </a:rPr>
              <a:t>Chen, L., Zhu, Y., Papandreou, G., Schroff, F., &amp; Adam, H. (2018). Encoder-Decoder with Atrous Separable Convolution for Semantic Image Segmentation. ArXiv. /abs/1802.02611</a:t>
            </a:r>
            <a:endParaRPr lang="en-IN" sz="26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15000"/>
              </a:lnSpc>
              <a:buFont typeface="+mj-lt"/>
              <a:buAutoNum type="arabicPeriod"/>
            </a:pPr>
            <a:r>
              <a:rPr lang="en-US" sz="2600" kern="100" dirty="0">
                <a:effectLst/>
                <a:latin typeface="Times New Roman" panose="02020603050405020304" pitchFamily="18" charset="0"/>
                <a:ea typeface="Calibri" panose="020F0502020204030204" pitchFamily="34" charset="0"/>
                <a:cs typeface="Mangal" panose="02040503050203030202" pitchFamily="18" charset="0"/>
              </a:rPr>
              <a:t>Sharma, Anita &amp; Prakash, Chander &amp; Thakur, Divyansh. (2024). Glacier Lake Detection Utilizing Remote Sensing Integration with Satellite Imagery and Advanced Deep Learning Methods. Applied Geomatics. 16. 10.1007/s12518-024-00594-3.</a:t>
            </a:r>
            <a:endParaRPr lang="en-IN" sz="26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15000"/>
              </a:lnSpc>
              <a:buFont typeface="+mj-lt"/>
              <a:buAutoNum type="arabicPeriod"/>
            </a:pPr>
            <a:r>
              <a:rPr lang="en-US" sz="2600" kern="100" dirty="0">
                <a:effectLst/>
                <a:latin typeface="Times New Roman" panose="02020603050405020304" pitchFamily="18" charset="0"/>
                <a:ea typeface="Calibri" panose="020F0502020204030204" pitchFamily="34" charset="0"/>
                <a:cs typeface="Mangal" panose="02040503050203030202" pitchFamily="18" charset="0"/>
              </a:rPr>
              <a:t>J. M. Su, L. X. Yang, and W. P. Jing, “A U-net based semantic segmentation method for high resolution remote sensing image,” Comput. Eng. Appl., vol. 55, no. 7, pp. 207–213, 2019</a:t>
            </a:r>
            <a:endParaRPr lang="en-IN" sz="26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15000"/>
              </a:lnSpc>
              <a:buFont typeface="+mj-lt"/>
              <a:buAutoNum type="arabicPeriod"/>
            </a:pPr>
            <a:r>
              <a:rPr lang="en-US" sz="2600" kern="100" dirty="0">
                <a:effectLst/>
                <a:latin typeface="Times New Roman" panose="02020603050405020304" pitchFamily="18" charset="0"/>
                <a:ea typeface="Calibri" panose="020F0502020204030204" pitchFamily="34" charset="0"/>
                <a:cs typeface="Mangal" panose="02040503050203030202" pitchFamily="18" charset="0"/>
              </a:rPr>
              <a:t>Zhang M, Chen F, Zhao H, Wang J, Wang N. Recent Changes of Glacial Lakes in the High Mountain Asia and Its Potential Controlling Factors Analysis. Remote Sensing. 2021; 13(18):3757. </a:t>
            </a:r>
            <a:r>
              <a:rPr lang="en-US" sz="2600" u="sng" kern="100" dirty="0">
                <a:solidFill>
                  <a:srgbClr val="0563C1"/>
                </a:solidFill>
                <a:effectLst/>
                <a:latin typeface="Times New Roman" panose="02020603050405020304" pitchFamily="18" charset="0"/>
                <a:ea typeface="Calibri" panose="020F0502020204030204" pitchFamily="34" charset="0"/>
                <a:cs typeface="Mangal" panose="02040503050203030202" pitchFamily="18" charset="0"/>
                <a:hlinkClick r:id="rId4"/>
              </a:rPr>
              <a:t>https://doi.org/10.3390/rs13183757</a:t>
            </a:r>
            <a:endParaRPr lang="en-IN" sz="26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15000"/>
              </a:lnSpc>
              <a:buFont typeface="+mj-lt"/>
              <a:buAutoNum type="arabicPeriod"/>
            </a:pPr>
            <a:r>
              <a:rPr lang="en-US" sz="2600" kern="100" dirty="0">
                <a:effectLst/>
                <a:latin typeface="Times New Roman" panose="02020603050405020304" pitchFamily="18" charset="0"/>
                <a:ea typeface="Calibri" panose="020F0502020204030204" pitchFamily="34" charset="0"/>
                <a:cs typeface="Mangal" panose="02040503050203030202" pitchFamily="18" charset="0"/>
              </a:rPr>
              <a:t>Kaushik, Saurabh &amp; Singh, Tejpal &amp; Joshi, P.K. &amp; Andreas, Dietz. (2022). Automated mapping of glacial lakes using multisource remote sensing data and deep convolutional neural network. International Journal of Applied Earth Observation and Geoinformation. 115. 103085. 10.1016/j.jag.2022.103085</a:t>
            </a:r>
            <a:endParaRPr lang="en-IN" sz="26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15000"/>
              </a:lnSpc>
              <a:buFont typeface="+mj-lt"/>
              <a:buAutoNum type="arabicPeriod"/>
            </a:pPr>
            <a:r>
              <a:rPr lang="en-IN" sz="2600" kern="100" dirty="0">
                <a:effectLst/>
                <a:latin typeface="Times New Roman" panose="02020603050405020304" pitchFamily="18" charset="0"/>
                <a:ea typeface="Calibri" panose="020F0502020204030204" pitchFamily="34" charset="0"/>
                <a:cs typeface="Mangal" panose="02040503050203030202" pitchFamily="18" charset="0"/>
              </a:rPr>
              <a:t>Hu S, Liu J, Kang Z. DeepLabV3+/EfficientNet Hybrid Network-Based Scene Area Judgment for the Mars Unmanned Vehicle System. Sensors. 2021; 21(23):8136. </a:t>
            </a:r>
            <a:r>
              <a:rPr lang="en-IN" sz="2600" u="sng" kern="100" dirty="0">
                <a:solidFill>
                  <a:srgbClr val="0563C1"/>
                </a:solidFill>
                <a:effectLst/>
                <a:latin typeface="Times New Roman" panose="02020603050405020304" pitchFamily="18" charset="0"/>
                <a:ea typeface="Calibri" panose="020F0502020204030204" pitchFamily="34" charset="0"/>
                <a:cs typeface="Mangal" panose="02040503050203030202" pitchFamily="18" charset="0"/>
                <a:hlinkClick r:id="rId5"/>
              </a:rPr>
              <a:t>doi.org/10.3390/s21238136</a:t>
            </a:r>
            <a:endParaRPr lang="en-IN" sz="26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15000"/>
              </a:lnSpc>
              <a:buFont typeface="+mj-lt"/>
              <a:buAutoNum type="arabicPeriod"/>
            </a:pPr>
            <a:r>
              <a:rPr lang="en-IN" sz="2600" kern="100" dirty="0">
                <a:effectLst/>
                <a:latin typeface="Times New Roman" panose="02020603050405020304" pitchFamily="18" charset="0"/>
                <a:ea typeface="Calibri" panose="020F0502020204030204" pitchFamily="34" charset="0"/>
                <a:cs typeface="Mangal" panose="02040503050203030202" pitchFamily="18" charset="0"/>
              </a:rPr>
              <a:t>Cheng, Bowen &amp; Girshick, Ross &amp; Dollar, Piotr &amp; Berg, Alexander &amp; Kirillov, Alexander. (2021). Boundary IoU: Improving Object-Centric Image Segmentation Evaluation. 15329-15337. 10.1109/CVPR46437.2021.01508.</a:t>
            </a:r>
            <a:endParaRPr lang="en-IN" sz="2600" kern="1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2" name="Footer Placeholder 1">
            <a:extLst>
              <a:ext uri="{FF2B5EF4-FFF2-40B4-BE49-F238E27FC236}">
                <a16:creationId xmlns:a16="http://schemas.microsoft.com/office/drawing/2014/main" id="{47E825E8-F15A-B535-571E-4376CB98C4F0}"/>
              </a:ext>
            </a:extLst>
          </p:cNvPr>
          <p:cNvSpPr>
            <a:spLocks noGrp="1"/>
          </p:cNvSpPr>
          <p:nvPr>
            <p:ph type="ftr" sz="quarter" idx="11"/>
          </p:nvPr>
        </p:nvSpPr>
        <p:spPr/>
        <p:txBody>
          <a:bodyPr/>
          <a:lstStyle/>
          <a:p>
            <a:pPr defTabSz="1371600"/>
            <a:r>
              <a:rPr lang="en-US" sz="2000" b="1" dirty="0">
                <a:solidFill>
                  <a:srgbClr val="002060"/>
                </a:solidFill>
              </a:rPr>
              <a:t>Made By : SHIKHAR SINGH</a:t>
            </a:r>
          </a:p>
        </p:txBody>
      </p:sp>
    </p:spTree>
  </p:cSld>
  <p:clrMapOvr>
    <a:overrideClrMapping bg1="lt1" tx1="dk1" bg2="lt2" tx2="dk2" accent1="accent1" accent2="accent2" accent3="accent3" accent4="accent4" accent5="accent5" accent6="accent6" hlink="hlink" folHlink="folHlink"/>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AA8289A-17AA-17AE-354B-2323628D384F}"/>
              </a:ext>
            </a:extLst>
          </p:cNvPr>
          <p:cNvSpPr>
            <a:spLocks noGrp="1"/>
          </p:cNvSpPr>
          <p:nvPr>
            <p:ph type="ftr" sz="quarter" idx="11"/>
          </p:nvPr>
        </p:nvSpPr>
        <p:spPr/>
        <p:txBody>
          <a:bodyPr/>
          <a:lstStyle/>
          <a:p>
            <a:pPr defTabSz="1371600"/>
            <a:r>
              <a:rPr lang="en-US" sz="2000" b="1" dirty="0">
                <a:solidFill>
                  <a:srgbClr val="002060"/>
                </a:solidFill>
              </a:rPr>
              <a:t>Made By : SHIKHAR SINGH</a:t>
            </a:r>
          </a:p>
        </p:txBody>
      </p:sp>
      <p:sp>
        <p:nvSpPr>
          <p:cNvPr id="14" name="TextBox 13">
            <a:extLst>
              <a:ext uri="{FF2B5EF4-FFF2-40B4-BE49-F238E27FC236}">
                <a16:creationId xmlns:a16="http://schemas.microsoft.com/office/drawing/2014/main" id="{0273416F-E6E3-2101-FBDF-D1F3D12B56B8}"/>
              </a:ext>
            </a:extLst>
          </p:cNvPr>
          <p:cNvSpPr txBox="1"/>
          <p:nvPr/>
        </p:nvSpPr>
        <p:spPr>
          <a:xfrm>
            <a:off x="228600" y="1803779"/>
            <a:ext cx="17526000" cy="7707238"/>
          </a:xfrm>
          <a:prstGeom prst="rect">
            <a:avLst/>
          </a:prstGeom>
          <a:noFill/>
        </p:spPr>
        <p:txBody>
          <a:bodyPr wrap="square">
            <a:spAutoFit/>
          </a:bodyPr>
          <a:lstStyle/>
          <a:p>
            <a:pPr marL="514350" marR="0" lvl="0" indent="-514350" algn="just">
              <a:lnSpc>
                <a:spcPct val="115000"/>
              </a:lnSpc>
              <a:buFont typeface="+mj-lt"/>
              <a:buAutoNum type="arabicPeriod" startAt="9"/>
            </a:pPr>
            <a:r>
              <a:rPr lang="en-IN" sz="2700" kern="100" dirty="0">
                <a:effectLst/>
                <a:latin typeface="Times New Roman" panose="02020603050405020304" pitchFamily="18" charset="0"/>
                <a:ea typeface="Calibri" panose="020F0502020204030204" pitchFamily="34" charset="0"/>
                <a:cs typeface="Mangal" panose="02040503050203030202" pitchFamily="18" charset="0"/>
              </a:rPr>
              <a:t>Mingxing Tan and Quoc Le. Efficientnet: Rethinking model scaling for convolutional neural networks. In International conference on machine learning, pages 6105–6114. PMLR, 2019.</a:t>
            </a:r>
            <a:endParaRPr lang="en-IN" sz="2700" kern="100" dirty="0">
              <a:effectLst/>
              <a:latin typeface="Calibri" panose="020F0502020204030204" pitchFamily="34" charset="0"/>
              <a:ea typeface="Calibri" panose="020F0502020204030204" pitchFamily="34" charset="0"/>
              <a:cs typeface="Mangal" panose="02040503050203030202" pitchFamily="18" charset="0"/>
            </a:endParaRPr>
          </a:p>
          <a:p>
            <a:pPr marL="514350" marR="0" lvl="0" indent="-514350" algn="just">
              <a:lnSpc>
                <a:spcPct val="115000"/>
              </a:lnSpc>
              <a:buFont typeface="+mj-lt"/>
              <a:buAutoNum type="arabicPeriod" startAt="9"/>
            </a:pPr>
            <a:r>
              <a:rPr lang="en-US" sz="2700" kern="100" dirty="0">
                <a:effectLst/>
                <a:latin typeface="Times New Roman" panose="02020603050405020304" pitchFamily="18" charset="0"/>
                <a:ea typeface="Calibri" panose="020F0502020204030204" pitchFamily="34" charset="0"/>
                <a:cs typeface="Mangal" panose="02040503050203030202" pitchFamily="18" charset="0"/>
              </a:rPr>
              <a:t>Agrawal, Sanjay &amp; Rewaskar, Vaibhav &amp; Agrawal, Rucha &amp; Chaudhari, Swapnil &amp; Patil, Yogendra &amp; Agrawal, Nidhee. (2023). International Journal of INTELLIGENT SYSTEMS AND APPLICATIONS IN ENGINEERING Advancements in NSFW Content Detection: A Comprehensive Review of ResNet-50 Based Approaches. 11. 41-45.</a:t>
            </a:r>
            <a:endParaRPr lang="en-IN" sz="2700" kern="100" dirty="0">
              <a:effectLst/>
              <a:latin typeface="Calibri" panose="020F0502020204030204" pitchFamily="34" charset="0"/>
              <a:ea typeface="Calibri" panose="020F0502020204030204" pitchFamily="34" charset="0"/>
              <a:cs typeface="Mangal" panose="02040503050203030202" pitchFamily="18" charset="0"/>
            </a:endParaRPr>
          </a:p>
          <a:p>
            <a:pPr marL="514350" marR="0" lvl="0" indent="-514350" algn="just">
              <a:lnSpc>
                <a:spcPct val="115000"/>
              </a:lnSpc>
              <a:buFont typeface="+mj-lt"/>
              <a:buAutoNum type="arabicPeriod" startAt="9"/>
            </a:pPr>
            <a:r>
              <a:rPr lang="en-US" sz="2700" kern="100" dirty="0">
                <a:effectLst/>
                <a:latin typeface="Times New Roman" panose="02020603050405020304" pitchFamily="18" charset="0"/>
                <a:ea typeface="Calibri" panose="020F0502020204030204" pitchFamily="34" charset="0"/>
                <a:cs typeface="Mangal" panose="02040503050203030202" pitchFamily="18" charset="0"/>
              </a:rPr>
              <a:t>Z. Duan, F. Wang, B. Wang, G. Luo and Z. Jiang, "An Adapted ResNet-50 Architecture for Predicting Flow Fields of an Underwater Vehicle," in IEEE Access, vol. 12, pp. 66398-66407, 2024, doi: 10.1109/ACCESS.2024.3399077.</a:t>
            </a:r>
            <a:endParaRPr lang="en-IN" sz="2700" kern="100" dirty="0">
              <a:effectLst/>
              <a:latin typeface="Calibri" panose="020F0502020204030204" pitchFamily="34" charset="0"/>
              <a:ea typeface="Calibri" panose="020F0502020204030204" pitchFamily="34" charset="0"/>
              <a:cs typeface="Mangal" panose="02040503050203030202" pitchFamily="18" charset="0"/>
            </a:endParaRPr>
          </a:p>
          <a:p>
            <a:pPr marL="514350" marR="0" lvl="0" indent="-514350" algn="just">
              <a:lnSpc>
                <a:spcPct val="115000"/>
              </a:lnSpc>
              <a:buFont typeface="+mj-lt"/>
              <a:buAutoNum type="arabicPeriod" startAt="9"/>
            </a:pPr>
            <a:r>
              <a:rPr lang="en-IN" sz="2700" kern="100" dirty="0">
                <a:effectLst/>
                <a:latin typeface="Times New Roman" panose="02020603050405020304" pitchFamily="18" charset="0"/>
                <a:ea typeface="Calibri" panose="020F0502020204030204" pitchFamily="34" charset="0"/>
                <a:cs typeface="Mangal" panose="02040503050203030202" pitchFamily="18" charset="0"/>
              </a:rPr>
              <a:t>J. Zhang, X. Yao, H. Duan, X. Chu, C. Yang and J. Hu, "Extraction of Cladophora Blooms in Qinghai Lake Through the Integration of Sentinel-2 MSI Imagery and Deep Learning Techniques," in </a:t>
            </a:r>
            <a:r>
              <a:rPr lang="en-IN" sz="2700" i="1" kern="100" dirty="0">
                <a:effectLst/>
                <a:latin typeface="Times New Roman" panose="02020603050405020304" pitchFamily="18" charset="0"/>
                <a:ea typeface="Calibri" panose="020F0502020204030204" pitchFamily="34" charset="0"/>
                <a:cs typeface="Mangal" panose="02040503050203030202" pitchFamily="18" charset="0"/>
              </a:rPr>
              <a:t>IEEE Journal of Selected Topics in Applied Earth Observations and Remote Sensing</a:t>
            </a:r>
            <a:r>
              <a:rPr lang="en-IN" sz="2700" kern="100" dirty="0">
                <a:effectLst/>
                <a:latin typeface="Times New Roman" panose="02020603050405020304" pitchFamily="18" charset="0"/>
                <a:ea typeface="Calibri" panose="020F0502020204030204" pitchFamily="34" charset="0"/>
                <a:cs typeface="Mangal" panose="02040503050203030202" pitchFamily="18" charset="0"/>
              </a:rPr>
              <a:t>, vol. 17, pp. 19115-19129, 2024, doi: 10.1109/JSTARS.2024.3447886.</a:t>
            </a:r>
            <a:endParaRPr lang="en-IN" sz="2700" kern="100" dirty="0">
              <a:effectLst/>
              <a:latin typeface="Calibri" panose="020F0502020204030204" pitchFamily="34" charset="0"/>
              <a:ea typeface="Calibri" panose="020F0502020204030204" pitchFamily="34" charset="0"/>
              <a:cs typeface="Mangal" panose="02040503050203030202" pitchFamily="18" charset="0"/>
            </a:endParaRPr>
          </a:p>
          <a:p>
            <a:pPr marL="514350" marR="0" lvl="0" indent="-514350" algn="just">
              <a:lnSpc>
                <a:spcPct val="115000"/>
              </a:lnSpc>
              <a:buFont typeface="+mj-lt"/>
              <a:buAutoNum type="arabicPeriod" startAt="9"/>
            </a:pPr>
            <a:r>
              <a:rPr lang="en-IN" sz="2700" kern="100" dirty="0">
                <a:effectLst/>
                <a:latin typeface="Times New Roman" panose="02020603050405020304" pitchFamily="18" charset="0"/>
                <a:ea typeface="Calibri" panose="020F0502020204030204" pitchFamily="34" charset="0"/>
                <a:cs typeface="Mangal" panose="02040503050203030202" pitchFamily="18" charset="0"/>
              </a:rPr>
              <a:t>Z. Zhan, X. Zhang, Y. Liu, X. Sun, C. Pang and C. Zhao, "Vegetation Land Use/Land Cover Extraction From High-Resolution Satellite Images Based on Adaptive Context Inference," in </a:t>
            </a:r>
            <a:r>
              <a:rPr lang="en-IN" sz="2700" i="1" kern="100" dirty="0">
                <a:effectLst/>
                <a:latin typeface="Times New Roman" panose="02020603050405020304" pitchFamily="18" charset="0"/>
                <a:ea typeface="Calibri" panose="020F0502020204030204" pitchFamily="34" charset="0"/>
                <a:cs typeface="Mangal" panose="02040503050203030202" pitchFamily="18" charset="0"/>
              </a:rPr>
              <a:t>IEEE Access</a:t>
            </a:r>
            <a:r>
              <a:rPr lang="en-IN" sz="2700" kern="100" dirty="0">
                <a:effectLst/>
                <a:latin typeface="Times New Roman" panose="02020603050405020304" pitchFamily="18" charset="0"/>
                <a:ea typeface="Calibri" panose="020F0502020204030204" pitchFamily="34" charset="0"/>
                <a:cs typeface="Mangal" panose="02040503050203030202" pitchFamily="18" charset="0"/>
              </a:rPr>
              <a:t>, vol. 8, pp. 21036-21051, 2020, doi: 10.1109/ACCESS.2020.2969812. </a:t>
            </a:r>
            <a:endParaRPr lang="en-IN" sz="2700" kern="100" dirty="0">
              <a:effectLst/>
              <a:latin typeface="Calibri" panose="020F0502020204030204" pitchFamily="34" charset="0"/>
              <a:ea typeface="Calibri" panose="020F0502020204030204" pitchFamily="34" charset="0"/>
              <a:cs typeface="Mangal" panose="02040503050203030202" pitchFamily="18" charset="0"/>
            </a:endParaRPr>
          </a:p>
          <a:p>
            <a:pPr marL="514350" marR="0" lvl="0" indent="-514350" algn="just">
              <a:lnSpc>
                <a:spcPct val="115000"/>
              </a:lnSpc>
              <a:buFont typeface="+mj-lt"/>
              <a:buAutoNum type="arabicPeriod" startAt="9"/>
            </a:pPr>
            <a:r>
              <a:rPr lang="en-IN" sz="2700" kern="100" dirty="0">
                <a:effectLst/>
                <a:latin typeface="Times New Roman" panose="02020603050405020304" pitchFamily="18" charset="0"/>
                <a:ea typeface="Calibri" panose="020F0502020204030204" pitchFamily="34" charset="0"/>
                <a:cs typeface="Mangal" panose="02040503050203030202" pitchFamily="18" charset="0"/>
              </a:rPr>
              <a:t>K. Thitisiriwech, T. Panboonyuen, P. Kantavat, Y. Iwahori and B. Kijsirikul, "The Bangkok Urbanscapes Dataset for Semantic Urban Scene Understanding Using Enhanced Encoder-Decoder with Atrous Depthwise Separable A1 Convolutional Neural Networks," in </a:t>
            </a:r>
            <a:r>
              <a:rPr lang="en-IN" sz="2700" i="1" kern="100" dirty="0">
                <a:effectLst/>
                <a:latin typeface="Times New Roman" panose="02020603050405020304" pitchFamily="18" charset="0"/>
                <a:ea typeface="Calibri" panose="020F0502020204030204" pitchFamily="34" charset="0"/>
                <a:cs typeface="Mangal" panose="02040503050203030202" pitchFamily="18" charset="0"/>
              </a:rPr>
              <a:t>IEEE Access</a:t>
            </a:r>
            <a:r>
              <a:rPr lang="en-IN" sz="2700" kern="100" dirty="0">
                <a:effectLst/>
                <a:latin typeface="Times New Roman" panose="02020603050405020304" pitchFamily="18" charset="0"/>
                <a:ea typeface="Calibri" panose="020F0502020204030204" pitchFamily="34" charset="0"/>
                <a:cs typeface="Mangal" panose="02040503050203030202" pitchFamily="18" charset="0"/>
              </a:rPr>
              <a:t>, vol. 10, pp. 59327-59349, 2022, doi: 10.1109/ACCESS.2022.3176712.</a:t>
            </a:r>
            <a:endParaRPr lang="en-IN" sz="2700" kern="1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16" name="TextBox 3">
            <a:extLst>
              <a:ext uri="{FF2B5EF4-FFF2-40B4-BE49-F238E27FC236}">
                <a16:creationId xmlns:a16="http://schemas.microsoft.com/office/drawing/2014/main" id="{FE2D4CE3-869F-362C-45CB-0D12005A0F72}"/>
              </a:ext>
            </a:extLst>
          </p:cNvPr>
          <p:cNvSpPr txBox="1"/>
          <p:nvPr/>
        </p:nvSpPr>
        <p:spPr>
          <a:xfrm>
            <a:off x="752494" y="400050"/>
            <a:ext cx="13684543" cy="1238250"/>
          </a:xfrm>
          <a:prstGeom prst="rect">
            <a:avLst/>
          </a:prstGeom>
        </p:spPr>
        <p:txBody>
          <a:bodyPr lIns="0" tIns="0" rIns="0" bIns="0" rtlCol="0" anchor="t">
            <a:spAutoFit/>
          </a:bodyPr>
          <a:lstStyle/>
          <a:p>
            <a:pPr algn="l">
              <a:lnSpc>
                <a:spcPts val="9600"/>
              </a:lnSpc>
            </a:pPr>
            <a:r>
              <a:rPr lang="en-US" sz="8000" b="1" spc="-504" dirty="0">
                <a:solidFill>
                  <a:srgbClr val="272727"/>
                </a:solidFill>
                <a:latin typeface="Times New Roman" panose="02020603050405020304" pitchFamily="18" charset="0"/>
                <a:ea typeface="Public Sans Bold"/>
                <a:cs typeface="Times New Roman" panose="02020603050405020304" pitchFamily="18" charset="0"/>
                <a:sym typeface="Public Sans Bold"/>
              </a:rPr>
              <a:t>References</a:t>
            </a:r>
          </a:p>
        </p:txBody>
      </p:sp>
    </p:spTree>
    <p:extLst>
      <p:ext uri="{BB962C8B-B14F-4D97-AF65-F5344CB8AC3E}">
        <p14:creationId xmlns:p14="http://schemas.microsoft.com/office/powerpoint/2010/main" val="220853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6939A66-7AAD-2595-68F6-CFC2F4A3D935}"/>
              </a:ext>
            </a:extLst>
          </p:cNvPr>
          <p:cNvSpPr>
            <a:spLocks noGrp="1"/>
          </p:cNvSpPr>
          <p:nvPr>
            <p:ph type="ftr" sz="quarter" idx="11"/>
          </p:nvPr>
        </p:nvSpPr>
        <p:spPr/>
        <p:txBody>
          <a:bodyPr/>
          <a:lstStyle/>
          <a:p>
            <a:pPr defTabSz="1371600"/>
            <a:r>
              <a:rPr lang="en-US" sz="2000" b="1" dirty="0">
                <a:solidFill>
                  <a:srgbClr val="002060"/>
                </a:solidFill>
              </a:rPr>
              <a:t>Made By : SHIKHAR SINGH</a:t>
            </a:r>
          </a:p>
        </p:txBody>
      </p:sp>
      <p:sp>
        <p:nvSpPr>
          <p:cNvPr id="3" name="TextBox 3">
            <a:extLst>
              <a:ext uri="{FF2B5EF4-FFF2-40B4-BE49-F238E27FC236}">
                <a16:creationId xmlns:a16="http://schemas.microsoft.com/office/drawing/2014/main" id="{0B2F72B6-0010-FE0A-F047-F95361911C39}"/>
              </a:ext>
            </a:extLst>
          </p:cNvPr>
          <p:cNvSpPr txBox="1"/>
          <p:nvPr/>
        </p:nvSpPr>
        <p:spPr>
          <a:xfrm>
            <a:off x="752494" y="400050"/>
            <a:ext cx="13684543" cy="1238250"/>
          </a:xfrm>
          <a:prstGeom prst="rect">
            <a:avLst/>
          </a:prstGeom>
        </p:spPr>
        <p:txBody>
          <a:bodyPr lIns="0" tIns="0" rIns="0" bIns="0" rtlCol="0" anchor="t">
            <a:spAutoFit/>
          </a:bodyPr>
          <a:lstStyle/>
          <a:p>
            <a:pPr algn="l">
              <a:lnSpc>
                <a:spcPts val="9600"/>
              </a:lnSpc>
            </a:pPr>
            <a:r>
              <a:rPr lang="en-US" sz="8000" b="1" spc="-504" dirty="0">
                <a:solidFill>
                  <a:srgbClr val="272727"/>
                </a:solidFill>
                <a:latin typeface="Times New Roman" panose="02020603050405020304" pitchFamily="18" charset="0"/>
                <a:ea typeface="Public Sans Bold"/>
                <a:cs typeface="Times New Roman" panose="02020603050405020304" pitchFamily="18" charset="0"/>
                <a:sym typeface="Public Sans Bold"/>
              </a:rPr>
              <a:t>References</a:t>
            </a:r>
          </a:p>
        </p:txBody>
      </p:sp>
      <p:sp>
        <p:nvSpPr>
          <p:cNvPr id="5" name="TextBox 4">
            <a:extLst>
              <a:ext uri="{FF2B5EF4-FFF2-40B4-BE49-F238E27FC236}">
                <a16:creationId xmlns:a16="http://schemas.microsoft.com/office/drawing/2014/main" id="{6C655579-E212-81C4-CD33-031DE25EC6C8}"/>
              </a:ext>
            </a:extLst>
          </p:cNvPr>
          <p:cNvSpPr txBox="1"/>
          <p:nvPr/>
        </p:nvSpPr>
        <p:spPr>
          <a:xfrm>
            <a:off x="752494" y="1943100"/>
            <a:ext cx="16849706" cy="6326860"/>
          </a:xfrm>
          <a:prstGeom prst="rect">
            <a:avLst/>
          </a:prstGeom>
          <a:noFill/>
        </p:spPr>
        <p:txBody>
          <a:bodyPr wrap="square">
            <a:spAutoFit/>
          </a:bodyPr>
          <a:lstStyle/>
          <a:p>
            <a:pPr marL="514350" indent="-514350" algn="just">
              <a:lnSpc>
                <a:spcPct val="115000"/>
              </a:lnSpc>
              <a:buFont typeface="+mj-lt"/>
              <a:buAutoNum type="arabicPeriod" startAt="15"/>
            </a:pPr>
            <a:r>
              <a:rPr lang="en-IN" sz="2800" dirty="0"/>
              <a:t>F. Chen, M. Zhang, B. Tian and Z. Li, "Extraction of Glacial Lake Outlines in Tibet Plateau Using Landsat 8 Imagery and Google Earth Engine," in </a:t>
            </a:r>
            <a:r>
              <a:rPr lang="en-IN" sz="2800" i="1" dirty="0"/>
              <a:t>IEEE Journal of Selected Topics in Applied Earth Observations and Remote Sensing</a:t>
            </a:r>
            <a:r>
              <a:rPr lang="en-IN" sz="2800" dirty="0"/>
              <a:t>, vol. 10, no. 9, pp. 4002-4009, Sept. 2017, doi: 10.1109/JSTARS.2017.2705718. </a:t>
            </a:r>
            <a:endParaRPr lang="en-IN" sz="2700" kern="100" dirty="0">
              <a:latin typeface="Times New Roman" panose="02020603050405020304" pitchFamily="18" charset="0"/>
              <a:ea typeface="Calibri" panose="020F0502020204030204" pitchFamily="34" charset="0"/>
              <a:cs typeface="Mangal" panose="02040503050203030202" pitchFamily="18" charset="0"/>
            </a:endParaRPr>
          </a:p>
          <a:p>
            <a:pPr marL="514350" marR="0" lvl="0" indent="-514350" algn="just">
              <a:lnSpc>
                <a:spcPct val="115000"/>
              </a:lnSpc>
              <a:buFont typeface="+mj-lt"/>
              <a:buAutoNum type="arabicPeriod" startAt="15"/>
            </a:pPr>
            <a:r>
              <a:rPr lang="en-IN" sz="2700" kern="100" dirty="0">
                <a:effectLst/>
                <a:latin typeface="Times New Roman" panose="02020603050405020304" pitchFamily="18" charset="0"/>
                <a:ea typeface="Calibri" panose="020F0502020204030204" pitchFamily="34" charset="0"/>
                <a:cs typeface="Mangal" panose="02040503050203030202" pitchFamily="18" charset="0"/>
              </a:rPr>
              <a:t>A. Ortiz </a:t>
            </a:r>
            <a:r>
              <a:rPr lang="en-IN" sz="2700" i="1" kern="100" dirty="0">
                <a:effectLst/>
                <a:latin typeface="Times New Roman" panose="02020603050405020304" pitchFamily="18" charset="0"/>
                <a:ea typeface="Calibri" panose="020F0502020204030204" pitchFamily="34" charset="0"/>
                <a:cs typeface="Mangal" panose="02040503050203030202" pitchFamily="18" charset="0"/>
              </a:rPr>
              <a:t>et al</a:t>
            </a:r>
            <a:r>
              <a:rPr lang="en-IN" sz="2700" kern="100" dirty="0">
                <a:effectLst/>
                <a:latin typeface="Times New Roman" panose="02020603050405020304" pitchFamily="18" charset="0"/>
                <a:ea typeface="Calibri" panose="020F0502020204030204" pitchFamily="34" charset="0"/>
                <a:cs typeface="Mangal" panose="02040503050203030202" pitchFamily="18" charset="0"/>
              </a:rPr>
              <a:t>., "Mapping Glacial Lakes Using Historically Guided Segmentation Models," in </a:t>
            </a:r>
            <a:r>
              <a:rPr lang="en-IN" sz="2700" i="1" kern="100" dirty="0">
                <a:effectLst/>
                <a:latin typeface="Times New Roman" panose="02020603050405020304" pitchFamily="18" charset="0"/>
                <a:ea typeface="Calibri" panose="020F0502020204030204" pitchFamily="34" charset="0"/>
                <a:cs typeface="Mangal" panose="02040503050203030202" pitchFamily="18" charset="0"/>
              </a:rPr>
              <a:t>IEEE Journal of Selected Topics in Applied Earth Observations and Remote Sensing</a:t>
            </a:r>
            <a:r>
              <a:rPr lang="en-IN" sz="2700" kern="100" dirty="0">
                <a:effectLst/>
                <a:latin typeface="Times New Roman" panose="02020603050405020304" pitchFamily="18" charset="0"/>
                <a:ea typeface="Calibri" panose="020F0502020204030204" pitchFamily="34" charset="0"/>
                <a:cs typeface="Mangal" panose="02040503050203030202" pitchFamily="18" charset="0"/>
              </a:rPr>
              <a:t>, vol. 15, pp. 9226-9240, 2022, doi: 10.1109/JSTARS.2022.3215722.</a:t>
            </a:r>
            <a:endParaRPr lang="en-IN" sz="2700" kern="100" dirty="0">
              <a:effectLst/>
              <a:latin typeface="Calibri" panose="020F0502020204030204" pitchFamily="34" charset="0"/>
              <a:ea typeface="Calibri" panose="020F0502020204030204" pitchFamily="34" charset="0"/>
              <a:cs typeface="Mangal" panose="02040503050203030202" pitchFamily="18" charset="0"/>
            </a:endParaRPr>
          </a:p>
          <a:p>
            <a:pPr marL="514350" marR="0" lvl="0" indent="-514350" algn="just">
              <a:lnSpc>
                <a:spcPct val="115000"/>
              </a:lnSpc>
              <a:buFont typeface="+mj-lt"/>
              <a:buAutoNum type="arabicPeriod" startAt="15"/>
            </a:pPr>
            <a:r>
              <a:rPr lang="en-IN" sz="2700" kern="100" dirty="0">
                <a:effectLst/>
                <a:latin typeface="Times New Roman" panose="02020603050405020304" pitchFamily="18" charset="0"/>
                <a:ea typeface="Calibri" panose="020F0502020204030204" pitchFamily="34" charset="0"/>
                <a:cs typeface="Mangal" panose="02040503050203030202" pitchFamily="18" charset="0"/>
              </a:rPr>
              <a:t>J. -H. Lee </a:t>
            </a:r>
            <a:r>
              <a:rPr lang="en-IN" sz="2700" i="1" kern="100" dirty="0">
                <a:effectLst/>
                <a:latin typeface="Times New Roman" panose="02020603050405020304" pitchFamily="18" charset="0"/>
                <a:ea typeface="Calibri" panose="020F0502020204030204" pitchFamily="34" charset="0"/>
                <a:cs typeface="Mangal" panose="02040503050203030202" pitchFamily="18" charset="0"/>
              </a:rPr>
              <a:t>et al</a:t>
            </a:r>
            <a:r>
              <a:rPr lang="en-IN" sz="2700" kern="100" dirty="0">
                <a:effectLst/>
                <a:latin typeface="Times New Roman" panose="02020603050405020304" pitchFamily="18" charset="0"/>
                <a:ea typeface="Calibri" panose="020F0502020204030204" pitchFamily="34" charset="0"/>
                <a:cs typeface="Mangal" panose="02040503050203030202" pitchFamily="18" charset="0"/>
              </a:rPr>
              <a:t>., "Detection and Dispersion of Small-Scale Oil Spills in Pristine Coastal Waters Using Sentinel-2 Satellite Imagery: A Case Study From Jeju Island," in </a:t>
            </a:r>
            <a:r>
              <a:rPr lang="en-IN" sz="2700" i="1" kern="100" dirty="0">
                <a:effectLst/>
                <a:latin typeface="Times New Roman" panose="02020603050405020304" pitchFamily="18" charset="0"/>
                <a:ea typeface="Calibri" panose="020F0502020204030204" pitchFamily="34" charset="0"/>
                <a:cs typeface="Mangal" panose="02040503050203030202" pitchFamily="18" charset="0"/>
              </a:rPr>
              <a:t>IEEE Journal of Selected Topics in Applied Earth Observations and Remote Sensing</a:t>
            </a:r>
            <a:r>
              <a:rPr lang="en-IN" sz="2700" kern="100" dirty="0">
                <a:effectLst/>
                <a:latin typeface="Times New Roman" panose="02020603050405020304" pitchFamily="18" charset="0"/>
                <a:ea typeface="Calibri" panose="020F0502020204030204" pitchFamily="34" charset="0"/>
                <a:cs typeface="Mangal" panose="02040503050203030202" pitchFamily="18" charset="0"/>
              </a:rPr>
              <a:t>, vol. 18, pp. 24848-24863, 2025, doi: 10.1109/JSTARS.2025.3613018.</a:t>
            </a:r>
            <a:endParaRPr lang="en-IN" sz="2700" kern="100" dirty="0">
              <a:effectLst/>
              <a:latin typeface="Calibri" panose="020F0502020204030204" pitchFamily="34" charset="0"/>
              <a:ea typeface="Calibri" panose="020F0502020204030204" pitchFamily="34" charset="0"/>
              <a:cs typeface="Mangal" panose="02040503050203030202" pitchFamily="18" charset="0"/>
            </a:endParaRPr>
          </a:p>
          <a:p>
            <a:pPr marL="514350" marR="0" lvl="0" indent="-514350" algn="just">
              <a:lnSpc>
                <a:spcPct val="115000"/>
              </a:lnSpc>
              <a:spcAft>
                <a:spcPts val="800"/>
              </a:spcAft>
              <a:buFont typeface="+mj-lt"/>
              <a:buAutoNum type="arabicPeriod" startAt="15"/>
            </a:pPr>
            <a:r>
              <a:rPr lang="en-IN" sz="2700" kern="100" dirty="0">
                <a:effectLst/>
                <a:latin typeface="Times New Roman" panose="02020603050405020304" pitchFamily="18" charset="0"/>
                <a:ea typeface="Calibri" panose="020F0502020204030204" pitchFamily="34" charset="0"/>
                <a:cs typeface="Mangal" panose="02040503050203030202" pitchFamily="18" charset="0"/>
              </a:rPr>
              <a:t>Z. Li, B. Ouyang, S. Qiu, X. Xu, X. Cui and X. Hua, "Change Detection in Remote-Sensing Images Using Pyramid Pooling Dynamic Sparse Attention Network with Difference Enhancement," in </a:t>
            </a:r>
            <a:r>
              <a:rPr lang="en-IN" sz="2700" i="1" kern="100" dirty="0">
                <a:effectLst/>
                <a:latin typeface="Times New Roman" panose="02020603050405020304" pitchFamily="18" charset="0"/>
                <a:ea typeface="Calibri" panose="020F0502020204030204" pitchFamily="34" charset="0"/>
                <a:cs typeface="Mangal" panose="02040503050203030202" pitchFamily="18" charset="0"/>
              </a:rPr>
              <a:t>IEEE Journal of Selected Topics in Applied Earth Observations and Remote Sensing</a:t>
            </a:r>
            <a:r>
              <a:rPr lang="en-IN" sz="2700" kern="100" dirty="0">
                <a:effectLst/>
                <a:latin typeface="Times New Roman" panose="02020603050405020304" pitchFamily="18" charset="0"/>
                <a:ea typeface="Calibri" panose="020F0502020204030204" pitchFamily="34" charset="0"/>
                <a:cs typeface="Mangal" panose="02040503050203030202" pitchFamily="18" charset="0"/>
              </a:rPr>
              <a:t>, vol. 17, pp. 7052-7067, 2024, doi: 10.1109/JSTARS.2024.3374050.</a:t>
            </a:r>
            <a:endParaRPr lang="en-IN" sz="2700" kern="1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644950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D27466F-66DB-8BD0-A435-F204894AC7D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A8B8614-AACF-34AF-4C61-485C675E875F}"/>
              </a:ext>
            </a:extLst>
          </p:cNvPr>
          <p:cNvSpPr>
            <a:spLocks noGrp="1"/>
          </p:cNvSpPr>
          <p:nvPr>
            <p:ph type="ftr" sz="quarter" idx="11"/>
          </p:nvPr>
        </p:nvSpPr>
        <p:spPr/>
        <p:txBody>
          <a:bodyPr/>
          <a:lstStyle/>
          <a:p>
            <a:pPr defTabSz="1371600"/>
            <a:r>
              <a:rPr lang="en-US" sz="2000" b="1" dirty="0">
                <a:solidFill>
                  <a:srgbClr val="002060"/>
                </a:solidFill>
              </a:rPr>
              <a:t>Made By : SHIKHAR SINGH </a:t>
            </a:r>
          </a:p>
        </p:txBody>
      </p:sp>
      <p:pic>
        <p:nvPicPr>
          <p:cNvPr id="5" name="Picture 4">
            <a:extLst>
              <a:ext uri="{FF2B5EF4-FFF2-40B4-BE49-F238E27FC236}">
                <a16:creationId xmlns:a16="http://schemas.microsoft.com/office/drawing/2014/main" id="{CAE89CD0-B81D-E909-AA2B-224666CF8E32}"/>
              </a:ext>
            </a:extLst>
          </p:cNvPr>
          <p:cNvPicPr>
            <a:picLocks noChangeAspect="1"/>
          </p:cNvPicPr>
          <p:nvPr/>
        </p:nvPicPr>
        <p:blipFill>
          <a:blip r:embed="rId4"/>
          <a:stretch>
            <a:fillRect/>
          </a:stretch>
        </p:blipFill>
        <p:spPr>
          <a:xfrm>
            <a:off x="1" y="939861"/>
            <a:ext cx="18287999" cy="7181272"/>
          </a:xfrm>
          <a:prstGeom prst="rect">
            <a:avLst/>
          </a:prstGeom>
        </p:spPr>
      </p:pic>
    </p:spTree>
    <p:extLst>
      <p:ext uri="{BB962C8B-B14F-4D97-AF65-F5344CB8AC3E}">
        <p14:creationId xmlns:p14="http://schemas.microsoft.com/office/powerpoint/2010/main" val="3791650212"/>
      </p:ext>
    </p:extLst>
  </p:cSld>
  <p:clrMapOvr>
    <a:overrideClrMapping bg1="lt1" tx1="dk1" bg2="lt2" tx2="dk2" accent1="accent1" accent2="accent2" accent3="accent3" accent4="accent4" accent5="accent5" accent6="accent6" hlink="hlink" folHlink="folHlink"/>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2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6000</TotalTime>
  <Words>2865</Words>
  <Application>Microsoft Office PowerPoint</Application>
  <PresentationFormat>Custom</PresentationFormat>
  <Paragraphs>269</Paragraphs>
  <Slides>19</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19</vt:i4>
      </vt:variant>
    </vt:vector>
  </HeadingPairs>
  <TitlesOfParts>
    <vt:vector size="30" baseType="lpstr">
      <vt:lpstr>Amasis MT Pro Black</vt:lpstr>
      <vt:lpstr>Arial</vt:lpstr>
      <vt:lpstr>Calibri Light</vt:lpstr>
      <vt:lpstr>Times New Roman</vt:lpstr>
      <vt:lpstr>Bodoni MT</vt:lpstr>
      <vt:lpstr>Wingdings</vt:lpstr>
      <vt:lpstr>Aptos Narrow</vt:lpstr>
      <vt:lpstr>Bahnschrift</vt:lpstr>
      <vt:lpstr>Arial Rounded MT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Nauman FIT Presentation</dc:title>
  <dc:creator>Shikhar Singh</dc:creator>
  <cp:lastModifiedBy>Shikhar Singh</cp:lastModifiedBy>
  <cp:revision>82</cp:revision>
  <dcterms:created xsi:type="dcterms:W3CDTF">2006-08-16T00:00:00Z</dcterms:created>
  <dcterms:modified xsi:type="dcterms:W3CDTF">2026-04-11T03:16:26Z</dcterms:modified>
  <dc:identifier>DAGYW9iIFf4</dc:identifier>
</cp:coreProperties>
</file>